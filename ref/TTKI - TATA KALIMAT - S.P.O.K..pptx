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5" r:id="rId11"/>
  </p:sldIdLst>
  <p:sldSz cx="18288000" cy="10287000"/>
  <p:notesSz cx="6858000" cy="9144000"/>
  <p:embeddedFontLst>
    <p:embeddedFont>
      <p:font typeface="Arial Narrow" panose="020B0606020202030204" pitchFamily="34" charset="0"/>
      <p:regular r:id="rId12"/>
      <p:bold r:id="rId13"/>
      <p:italic r:id="rId14"/>
      <p:boldItalic r:id="rId15"/>
    </p:embeddedFon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DM Sans Bold" charset="0"/>
      <p:regular r:id="rId24"/>
    </p:embeddedFont>
    <p:embeddedFont>
      <p:font typeface="DM Sans Italics" panose="020B0604020202020204" charset="0"/>
      <p:regular r:id="rId25"/>
    </p:embeddedFont>
    <p:embeddedFont>
      <p:font typeface="Montserrat Classic Bold" panose="020B0604020202020204" charset="0"/>
      <p:regular r:id="rId26"/>
    </p:embeddedFont>
    <p:embeddedFont>
      <p:font typeface="Oswald" panose="00000500000000000000" pitchFamily="2" charset="0"/>
      <p:regular r:id="rId27"/>
      <p:bold r:id="rId28"/>
    </p:embeddedFont>
    <p:embeddedFont>
      <p:font typeface="Oswald Bold" panose="00000800000000000000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font" Target="fonts/font17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font" Target="fonts/font1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3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32.sv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2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.svg"/><Relationship Id="rId4" Type="http://schemas.openxmlformats.org/officeDocument/2006/relationships/image" Target="../media/image33.jpe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7659121">
            <a:off x="15091031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-3258071" y="-4629150"/>
            <a:ext cx="9022634" cy="9258300"/>
          </a:xfrm>
          <a:custGeom>
            <a:avLst/>
            <a:gdLst/>
            <a:ahLst/>
            <a:cxnLst/>
            <a:rect l="l" t="t" r="r" b="b"/>
            <a:pathLst>
              <a:path w="9022634" h="9258300">
                <a:moveTo>
                  <a:pt x="0" y="0"/>
                </a:moveTo>
                <a:lnTo>
                  <a:pt x="9022634" y="0"/>
                </a:lnTo>
                <a:lnTo>
                  <a:pt x="9022634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4236347" y="3202251"/>
            <a:ext cx="9815307" cy="4208864"/>
          </a:xfrm>
          <a:custGeom>
            <a:avLst/>
            <a:gdLst/>
            <a:ahLst/>
            <a:cxnLst/>
            <a:rect l="l" t="t" r="r" b="b"/>
            <a:pathLst>
              <a:path w="1895495" h="812800">
                <a:moveTo>
                  <a:pt x="0" y="0"/>
                </a:moveTo>
                <a:lnTo>
                  <a:pt x="1895495" y="0"/>
                </a:lnTo>
                <a:lnTo>
                  <a:pt x="1895495" y="812800"/>
                </a:lnTo>
                <a:lnTo>
                  <a:pt x="0" y="812800"/>
                </a:lnTo>
                <a:lnTo>
                  <a:pt x="0" y="0"/>
                </a:lnTo>
              </a:path>
            </a:pathLst>
          </a:custGeom>
          <a:solidFill>
            <a:srgbClr val="FFC000"/>
          </a:solidFill>
          <a:ln w="38100">
            <a:solidFill>
              <a:srgbClr val="000000"/>
            </a:solidFill>
          </a:ln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4236347" y="4348786"/>
            <a:ext cx="9815307" cy="2766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684"/>
              </a:lnSpc>
            </a:pPr>
            <a:r>
              <a:rPr lang="en-US" sz="16437" spc="1610" dirty="0">
                <a:solidFill>
                  <a:srgbClr val="C00000"/>
                </a:solidFill>
                <a:latin typeface="Oswald Bold"/>
              </a:rPr>
              <a:t>S.P.O.K.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36347" y="3438109"/>
            <a:ext cx="9815307" cy="1186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sz="7063" spc="692" dirty="0">
                <a:solidFill>
                  <a:srgbClr val="231F20"/>
                </a:solidFill>
                <a:latin typeface="Oswald Bold"/>
              </a:rPr>
              <a:t>TATA KALIMAT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19596" y="7482578"/>
            <a:ext cx="12848809" cy="4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1"/>
              </a:lnSpc>
            </a:pPr>
            <a:r>
              <a:rPr lang="en-US" sz="2653" spc="140" dirty="0">
                <a:solidFill>
                  <a:srgbClr val="231F20"/>
                </a:solidFill>
                <a:latin typeface="Montserrat Classic Bold"/>
              </a:rPr>
              <a:t>INSTITUT TEKNOLOGI BANDUNG, 2023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659121">
            <a:off x="-4012602" y="5585714"/>
            <a:ext cx="7629294" cy="7828566"/>
          </a:xfrm>
          <a:custGeom>
            <a:avLst/>
            <a:gdLst/>
            <a:ahLst/>
            <a:cxnLst/>
            <a:rect l="l" t="t" r="r" b="b"/>
            <a:pathLst>
              <a:path w="7629294" h="7828566">
                <a:moveTo>
                  <a:pt x="0" y="0"/>
                </a:moveTo>
                <a:lnTo>
                  <a:pt x="7629294" y="0"/>
                </a:lnTo>
                <a:lnTo>
                  <a:pt x="7629294" y="7828566"/>
                </a:lnTo>
                <a:lnTo>
                  <a:pt x="0" y="7828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5019320" y="2901697"/>
            <a:ext cx="1400485" cy="6493178"/>
            <a:chOff x="0" y="0"/>
            <a:chExt cx="368852" cy="17101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8852" cy="1710137"/>
            </a:xfrm>
            <a:custGeom>
              <a:avLst/>
              <a:gdLst/>
              <a:ahLst/>
              <a:cxnLst/>
              <a:rect l="l" t="t" r="r" b="b"/>
              <a:pathLst>
                <a:path w="368852" h="1710137">
                  <a:moveTo>
                    <a:pt x="0" y="0"/>
                  </a:moveTo>
                  <a:lnTo>
                    <a:pt x="368852" y="0"/>
                  </a:lnTo>
                  <a:lnTo>
                    <a:pt x="368852" y="1710137"/>
                  </a:lnTo>
                  <a:lnTo>
                    <a:pt x="0" y="1710137"/>
                  </a:ln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980992" y="1036994"/>
            <a:ext cx="7703067" cy="1683697"/>
          </a:xfrm>
          <a:prstGeom prst="rect">
            <a:avLst/>
          </a:prstGeom>
          <a:solidFill>
            <a:srgbClr val="FFC000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774"/>
              </a:lnSpc>
            </a:pPr>
            <a:r>
              <a:rPr lang="en-US" sz="9981" spc="978" dirty="0">
                <a:solidFill>
                  <a:srgbClr val="C00000"/>
                </a:solidFill>
                <a:latin typeface="Oswald Bold"/>
              </a:rPr>
              <a:t>KELAS KATA</a:t>
            </a:r>
          </a:p>
        </p:txBody>
      </p:sp>
      <p:sp>
        <p:nvSpPr>
          <p:cNvPr id="7" name="Freeform 7"/>
          <p:cNvSpPr/>
          <p:nvPr/>
        </p:nvSpPr>
        <p:spPr>
          <a:xfrm rot="2016048">
            <a:off x="12243487" y="-1005305"/>
            <a:ext cx="10749463" cy="2687366"/>
          </a:xfrm>
          <a:custGeom>
            <a:avLst/>
            <a:gdLst/>
            <a:ahLst/>
            <a:cxnLst/>
            <a:rect l="l" t="t" r="r" b="b"/>
            <a:pathLst>
              <a:path w="10749463" h="2687366">
                <a:moveTo>
                  <a:pt x="0" y="0"/>
                </a:moveTo>
                <a:lnTo>
                  <a:pt x="10749463" y="0"/>
                </a:lnTo>
                <a:lnTo>
                  <a:pt x="10749463" y="2687365"/>
                </a:lnTo>
                <a:lnTo>
                  <a:pt x="0" y="26873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TextBox 8"/>
          <p:cNvSpPr txBox="1"/>
          <p:nvPr/>
        </p:nvSpPr>
        <p:spPr>
          <a:xfrm>
            <a:off x="5231353" y="3225185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31353" y="4022304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31353" y="4903461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31353" y="5700580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50954" y="6492957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50954" y="7323921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06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50954" y="8174214"/>
            <a:ext cx="937219" cy="65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26"/>
              </a:lnSpc>
            </a:pPr>
            <a:r>
              <a:rPr lang="en-US" sz="4271">
                <a:solidFill>
                  <a:srgbClr val="363636"/>
                </a:solidFill>
                <a:latin typeface="Oswald Bold Italics"/>
              </a:rPr>
              <a:t>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7430" y="3333137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VERBA (KATA KERJA)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07430" y="4127355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83"/>
              </a:lnSpc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ADJEKTIVA (KATA SIFAT)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07430" y="5047445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NOMINA (KATA BENDA)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07430" y="5841663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PRONOMINA (KATA GANTI)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07430" y="6642507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PREPOSISI (KATA DEPAN)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07430" y="7434884"/>
            <a:ext cx="5790503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KONJUNGSI (KATA HUBUNG)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607430" y="8279265"/>
            <a:ext cx="6076629" cy="429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83"/>
              </a:lnSpc>
              <a:spcBef>
                <a:spcPct val="0"/>
              </a:spcBef>
            </a:pPr>
            <a:r>
              <a:rPr lang="en-US" sz="2524" b="1" spc="247" dirty="0">
                <a:solidFill>
                  <a:srgbClr val="231F20"/>
                </a:solidFill>
                <a:latin typeface="DM Sans"/>
              </a:rPr>
              <a:t>ARTIKULA (KATA TUGAS)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2779206" y="1920649"/>
            <a:ext cx="2027545" cy="3080525"/>
          </a:xfrm>
          <a:custGeom>
            <a:avLst/>
            <a:gdLst/>
            <a:ahLst/>
            <a:cxnLst/>
            <a:rect l="l" t="t" r="r" b="b"/>
            <a:pathLst>
              <a:path w="2027545" h="3080525">
                <a:moveTo>
                  <a:pt x="0" y="0"/>
                </a:moveTo>
                <a:lnTo>
                  <a:pt x="2027545" y="0"/>
                </a:lnTo>
                <a:lnTo>
                  <a:pt x="2027545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/>
          <a:lstStyle/>
          <a:p>
            <a:endParaRPr lang="en-ID">
              <a:solidFill>
                <a:srgbClr val="C00000"/>
              </a:solidFill>
            </a:endParaRPr>
          </a:p>
        </p:txBody>
      </p:sp>
      <p:sp>
        <p:nvSpPr>
          <p:cNvPr id="4" name="Freeform 4"/>
          <p:cNvSpPr/>
          <p:nvPr/>
        </p:nvSpPr>
        <p:spPr>
          <a:xfrm rot="2035253">
            <a:off x="15331117" y="4817487"/>
            <a:ext cx="7835077" cy="10939025"/>
          </a:xfrm>
          <a:custGeom>
            <a:avLst/>
            <a:gdLst/>
            <a:ahLst/>
            <a:cxnLst/>
            <a:rect l="l" t="t" r="r" b="b"/>
            <a:pathLst>
              <a:path w="7835077" h="10939025">
                <a:moveTo>
                  <a:pt x="0" y="0"/>
                </a:moveTo>
                <a:lnTo>
                  <a:pt x="7835077" y="0"/>
                </a:lnTo>
                <a:lnTo>
                  <a:pt x="7835077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5" name="AutoShape 5"/>
          <p:cNvSpPr/>
          <p:nvPr/>
        </p:nvSpPr>
        <p:spPr>
          <a:xfrm>
            <a:off x="1589541" y="5472067"/>
            <a:ext cx="15108918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D"/>
          </a:p>
        </p:txBody>
      </p:sp>
      <p:grpSp>
        <p:nvGrpSpPr>
          <p:cNvPr id="6" name="Group 6"/>
          <p:cNvGrpSpPr/>
          <p:nvPr/>
        </p:nvGrpSpPr>
        <p:grpSpPr>
          <a:xfrm>
            <a:off x="3542437" y="5240576"/>
            <a:ext cx="501082" cy="501082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3121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0716" y="6537441"/>
            <a:ext cx="3204526" cy="9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Wajib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ada</a:t>
            </a:r>
            <a:endParaRPr lang="en-US" sz="1844" b="1" spc="180" dirty="0">
              <a:solidFill>
                <a:srgbClr val="C00000"/>
              </a:solidFill>
              <a:latin typeface="DM Sans"/>
            </a:endParaRPr>
          </a:p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Menunjukkan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pelaku</a:t>
            </a:r>
            <a:endParaRPr lang="en-US" sz="1844" b="1" spc="180" dirty="0">
              <a:solidFill>
                <a:srgbClr val="231F20"/>
              </a:solidFill>
              <a:latin typeface="DM Sans"/>
            </a:endParaRPr>
          </a:p>
          <a:p>
            <a:pPr algn="ctr">
              <a:lnSpc>
                <a:spcPts val="2545"/>
              </a:lnSpc>
            </a:pP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(orang, 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benda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79206" y="2339199"/>
            <a:ext cx="2027545" cy="112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 dirty="0">
                <a:solidFill>
                  <a:srgbClr val="C00000"/>
                </a:solidFill>
                <a:latin typeface="DM Sans Bold"/>
              </a:rPr>
              <a:t>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59451" y="5941547"/>
            <a:ext cx="3467055" cy="48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51" spc="289">
                <a:solidFill>
                  <a:srgbClr val="231F20"/>
                </a:solidFill>
                <a:latin typeface="DM Sans Bold"/>
              </a:rPr>
              <a:t>SUBJEK</a:t>
            </a:r>
          </a:p>
        </p:txBody>
      </p:sp>
      <p:sp>
        <p:nvSpPr>
          <p:cNvPr id="12" name="Freeform 12"/>
          <p:cNvSpPr/>
          <p:nvPr/>
        </p:nvSpPr>
        <p:spPr>
          <a:xfrm>
            <a:off x="6267505" y="1920649"/>
            <a:ext cx="2027545" cy="3080525"/>
          </a:xfrm>
          <a:custGeom>
            <a:avLst/>
            <a:gdLst/>
            <a:ahLst/>
            <a:cxnLst/>
            <a:rect l="l" t="t" r="r" b="b"/>
            <a:pathLst>
              <a:path w="2027545" h="3080525">
                <a:moveTo>
                  <a:pt x="0" y="0"/>
                </a:moveTo>
                <a:lnTo>
                  <a:pt x="2027546" y="0"/>
                </a:lnTo>
                <a:lnTo>
                  <a:pt x="2027546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3" name="Group 13"/>
          <p:cNvGrpSpPr/>
          <p:nvPr/>
        </p:nvGrpSpPr>
        <p:grpSpPr>
          <a:xfrm>
            <a:off x="7030737" y="5240576"/>
            <a:ext cx="501082" cy="50108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3121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267505" y="2339199"/>
            <a:ext cx="2027545" cy="112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 dirty="0">
                <a:solidFill>
                  <a:srgbClr val="FFFBFB"/>
                </a:solidFill>
                <a:latin typeface="DM Sans Bold"/>
              </a:rPr>
              <a:t>P</a:t>
            </a:r>
          </a:p>
        </p:txBody>
      </p:sp>
      <p:sp>
        <p:nvSpPr>
          <p:cNvPr id="17" name="Freeform 17"/>
          <p:cNvSpPr/>
          <p:nvPr/>
        </p:nvSpPr>
        <p:spPr>
          <a:xfrm>
            <a:off x="9758062" y="1920649"/>
            <a:ext cx="2027545" cy="3080525"/>
          </a:xfrm>
          <a:custGeom>
            <a:avLst/>
            <a:gdLst/>
            <a:ahLst/>
            <a:cxnLst/>
            <a:rect l="l" t="t" r="r" b="b"/>
            <a:pathLst>
              <a:path w="2027545" h="3080525">
                <a:moveTo>
                  <a:pt x="0" y="0"/>
                </a:moveTo>
                <a:lnTo>
                  <a:pt x="2027546" y="0"/>
                </a:lnTo>
                <a:lnTo>
                  <a:pt x="2027546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solidFill>
            <a:srgbClr val="FFC000"/>
          </a:solidFill>
        </p:spPr>
        <p:txBody>
          <a:bodyPr/>
          <a:lstStyle/>
          <a:p>
            <a:endParaRPr lang="en-ID"/>
          </a:p>
        </p:txBody>
      </p:sp>
      <p:grpSp>
        <p:nvGrpSpPr>
          <p:cNvPr id="18" name="Group 18"/>
          <p:cNvGrpSpPr/>
          <p:nvPr/>
        </p:nvGrpSpPr>
        <p:grpSpPr>
          <a:xfrm>
            <a:off x="10521294" y="5240576"/>
            <a:ext cx="501082" cy="501082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3121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758062" y="2339199"/>
            <a:ext cx="2027545" cy="112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 dirty="0">
                <a:solidFill>
                  <a:srgbClr val="C00000"/>
                </a:solidFill>
                <a:latin typeface="DM Sans Bold"/>
              </a:rPr>
              <a:t>O</a:t>
            </a:r>
          </a:p>
        </p:txBody>
      </p:sp>
      <p:sp>
        <p:nvSpPr>
          <p:cNvPr id="22" name="Freeform 22"/>
          <p:cNvSpPr/>
          <p:nvPr/>
        </p:nvSpPr>
        <p:spPr>
          <a:xfrm>
            <a:off x="13248619" y="1920649"/>
            <a:ext cx="2027545" cy="3080525"/>
          </a:xfrm>
          <a:custGeom>
            <a:avLst/>
            <a:gdLst/>
            <a:ahLst/>
            <a:cxnLst/>
            <a:rect l="l" t="t" r="r" b="b"/>
            <a:pathLst>
              <a:path w="2027545" h="3080525">
                <a:moveTo>
                  <a:pt x="0" y="0"/>
                </a:moveTo>
                <a:lnTo>
                  <a:pt x="2027546" y="0"/>
                </a:lnTo>
                <a:lnTo>
                  <a:pt x="2027546" y="3080525"/>
                </a:lnTo>
                <a:lnTo>
                  <a:pt x="0" y="3080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23" name="Group 23"/>
          <p:cNvGrpSpPr/>
          <p:nvPr/>
        </p:nvGrpSpPr>
        <p:grpSpPr>
          <a:xfrm>
            <a:off x="14011851" y="5240576"/>
            <a:ext cx="501082" cy="50108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31211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3248619" y="2339199"/>
            <a:ext cx="2027545" cy="11217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41"/>
              </a:lnSpc>
            </a:pPr>
            <a:r>
              <a:rPr lang="en-US" sz="6624" spc="649" dirty="0">
                <a:solidFill>
                  <a:srgbClr val="FFFBFB"/>
                </a:solidFill>
                <a:latin typeface="DM Sans Bold"/>
              </a:rPr>
              <a:t>Pel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679015" y="6537441"/>
            <a:ext cx="3204526" cy="943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Wajib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ada</a:t>
            </a:r>
            <a:endParaRPr lang="en-US" sz="1844" b="1" spc="180" dirty="0">
              <a:solidFill>
                <a:srgbClr val="C00000"/>
              </a:solidFill>
              <a:latin typeface="DM Sans"/>
            </a:endParaRPr>
          </a:p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Menerangkan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subjek</a:t>
            </a:r>
            <a:endParaRPr lang="en-US" sz="1844" b="1" spc="180" dirty="0">
              <a:solidFill>
                <a:srgbClr val="231F20"/>
              </a:solidFill>
              <a:latin typeface="DM Sans"/>
            </a:endParaRPr>
          </a:p>
          <a:p>
            <a:pPr algn="ctr">
              <a:lnSpc>
                <a:spcPts val="2545"/>
              </a:lnSpc>
            </a:pP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(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kegiatan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, 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sifat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, </a:t>
            </a:r>
            <a:r>
              <a:rPr lang="en-US" sz="1844" b="1" spc="180" dirty="0" err="1">
                <a:solidFill>
                  <a:srgbClr val="231F20"/>
                </a:solidFill>
                <a:latin typeface="DM Sans"/>
              </a:rPr>
              <a:t>benda</a:t>
            </a:r>
            <a:r>
              <a:rPr lang="en-US" sz="1844" b="1" spc="180" dirty="0">
                <a:solidFill>
                  <a:srgbClr val="231F20"/>
                </a:solidFill>
                <a:latin typeface="DM Sans"/>
              </a:rPr>
              <a:t>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89722" y="5941547"/>
            <a:ext cx="2709833" cy="48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51" spc="289">
                <a:solidFill>
                  <a:srgbClr val="231F20"/>
                </a:solidFill>
                <a:latin typeface="DM Sans Bold"/>
              </a:rPr>
              <a:t>PREDIKAT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169572" y="6537441"/>
            <a:ext cx="3204526" cy="9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Wajib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ada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jika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predikat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berimbuhan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>
                <a:solidFill>
                  <a:srgbClr val="C00000"/>
                </a:solidFill>
                <a:latin typeface="DM Sans Italics"/>
              </a:rPr>
              <a:t>me-</a:t>
            </a:r>
          </a:p>
          <a:p>
            <a:pPr algn="ctr">
              <a:lnSpc>
                <a:spcPts val="2545"/>
              </a:lnSpc>
            </a:pPr>
            <a:r>
              <a:rPr lang="en-US" sz="1844" b="1" spc="180" dirty="0">
                <a:solidFill>
                  <a:srgbClr val="00B050"/>
                </a:solidFill>
                <a:latin typeface="DM Sans"/>
              </a:rPr>
              <a:t>Bisa </a:t>
            </a:r>
            <a:r>
              <a:rPr lang="en-US" sz="1844" b="1" spc="180" dirty="0" err="1">
                <a:solidFill>
                  <a:srgbClr val="00B050"/>
                </a:solidFill>
                <a:latin typeface="DM Sans"/>
              </a:rPr>
              <a:t>dipasifkan</a:t>
            </a:r>
            <a:endParaRPr lang="en-US" sz="1844" b="1" spc="180" dirty="0">
              <a:solidFill>
                <a:srgbClr val="00B050"/>
              </a:solidFill>
              <a:latin typeface="DM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80279" y="5941547"/>
            <a:ext cx="2709833" cy="48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51" spc="289">
                <a:solidFill>
                  <a:srgbClr val="231F20"/>
                </a:solidFill>
                <a:latin typeface="DM Sans Bold"/>
              </a:rPr>
              <a:t>OBJEK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660129" y="6538853"/>
            <a:ext cx="3204526" cy="1590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5"/>
              </a:lnSpc>
            </a:pPr>
            <a:r>
              <a:rPr lang="en-US" sz="1844" b="1" spc="180" dirty="0" err="1">
                <a:latin typeface="DM Sans"/>
              </a:rPr>
              <a:t>Tidak</a:t>
            </a:r>
            <a:r>
              <a:rPr lang="en-US" sz="1844" b="1" spc="180" dirty="0">
                <a:latin typeface="DM Sans"/>
              </a:rPr>
              <a:t> </a:t>
            </a:r>
            <a:r>
              <a:rPr lang="en-US" sz="1844" b="1" spc="180" dirty="0" err="1">
                <a:latin typeface="DM Sans"/>
              </a:rPr>
              <a:t>wajib</a:t>
            </a:r>
            <a:r>
              <a:rPr lang="en-US" sz="1844" b="1" spc="180" dirty="0">
                <a:latin typeface="DM Sans"/>
              </a:rPr>
              <a:t> </a:t>
            </a:r>
            <a:r>
              <a:rPr lang="en-US" sz="1844" b="1" spc="180" dirty="0" err="1">
                <a:latin typeface="DM Sans"/>
              </a:rPr>
              <a:t>ada</a:t>
            </a:r>
            <a:endParaRPr lang="en-US" sz="1844" b="1" spc="180" dirty="0">
              <a:latin typeface="DM Sans"/>
            </a:endParaRPr>
          </a:p>
          <a:p>
            <a:pPr algn="ctr">
              <a:lnSpc>
                <a:spcPts val="2545"/>
              </a:lnSpc>
            </a:pP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Akan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muncul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jika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predikat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C00000"/>
                </a:solidFill>
                <a:latin typeface="DM Sans"/>
              </a:rPr>
              <a:t>berimbuhan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 </a:t>
            </a:r>
          </a:p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C00000"/>
                </a:solidFill>
                <a:latin typeface="DM Sans Italics"/>
              </a:rPr>
              <a:t>ber</a:t>
            </a:r>
            <a:r>
              <a:rPr lang="en-US" sz="1844" b="1" spc="180" dirty="0">
                <a:solidFill>
                  <a:srgbClr val="C00000"/>
                </a:solidFill>
                <a:latin typeface="DM Sans Italics"/>
              </a:rPr>
              <a:t>- </a:t>
            </a:r>
            <a:r>
              <a:rPr lang="en-US" sz="1844" b="1" spc="180" dirty="0">
                <a:solidFill>
                  <a:srgbClr val="C00000"/>
                </a:solidFill>
                <a:latin typeface="DM Sans"/>
              </a:rPr>
              <a:t>dan </a:t>
            </a:r>
            <a:r>
              <a:rPr lang="en-US" sz="1844" b="1" spc="180" dirty="0" err="1">
                <a:solidFill>
                  <a:srgbClr val="C00000"/>
                </a:solidFill>
                <a:latin typeface="DM Sans Italics"/>
              </a:rPr>
              <a:t>ter</a:t>
            </a:r>
            <a:r>
              <a:rPr lang="en-US" sz="1844" b="1" spc="180" dirty="0">
                <a:solidFill>
                  <a:srgbClr val="C00000"/>
                </a:solidFill>
                <a:latin typeface="DM Sans Italics"/>
              </a:rPr>
              <a:t>-</a:t>
            </a:r>
          </a:p>
          <a:p>
            <a:pPr algn="ctr">
              <a:lnSpc>
                <a:spcPts val="2545"/>
              </a:lnSpc>
            </a:pPr>
            <a:r>
              <a:rPr lang="en-US" sz="1844" b="1" spc="180" dirty="0" err="1">
                <a:solidFill>
                  <a:srgbClr val="00B050"/>
                </a:solidFill>
                <a:latin typeface="DM Sans"/>
              </a:rPr>
              <a:t>Tidak</a:t>
            </a:r>
            <a:r>
              <a:rPr lang="en-US" sz="1844" b="1" spc="180" dirty="0">
                <a:solidFill>
                  <a:srgbClr val="00B05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00B050"/>
                </a:solidFill>
                <a:latin typeface="DM Sans"/>
              </a:rPr>
              <a:t>dapat</a:t>
            </a:r>
            <a:r>
              <a:rPr lang="en-US" sz="1844" b="1" spc="180" dirty="0">
                <a:solidFill>
                  <a:srgbClr val="00B050"/>
                </a:solidFill>
                <a:latin typeface="DM Sans"/>
              </a:rPr>
              <a:t> </a:t>
            </a:r>
            <a:r>
              <a:rPr lang="en-US" sz="1844" b="1" spc="180" dirty="0" err="1">
                <a:solidFill>
                  <a:srgbClr val="00B050"/>
                </a:solidFill>
                <a:latin typeface="DM Sans"/>
              </a:rPr>
              <a:t>dipasifkan</a:t>
            </a:r>
            <a:endParaRPr lang="en-US" sz="1844" b="1" spc="180" dirty="0">
              <a:solidFill>
                <a:srgbClr val="00B050"/>
              </a:solidFill>
              <a:latin typeface="DM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65483" y="5941683"/>
            <a:ext cx="2993819" cy="48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3"/>
              </a:lnSpc>
            </a:pPr>
            <a:r>
              <a:rPr lang="en-US" sz="2951" spc="289">
                <a:solidFill>
                  <a:srgbClr val="231F20"/>
                </a:solidFill>
                <a:latin typeface="DM Sans Bold"/>
              </a:rPr>
              <a:t>PELENGKAP</a:t>
            </a:r>
          </a:p>
        </p:txBody>
      </p:sp>
      <p:sp>
        <p:nvSpPr>
          <p:cNvPr id="33" name="Freeform 33"/>
          <p:cNvSpPr/>
          <p:nvPr/>
        </p:nvSpPr>
        <p:spPr>
          <a:xfrm rot="-10799999">
            <a:off x="-3047998" y="-7048499"/>
            <a:ext cx="7835077" cy="10939025"/>
          </a:xfrm>
          <a:custGeom>
            <a:avLst/>
            <a:gdLst/>
            <a:ahLst/>
            <a:cxnLst/>
            <a:rect l="l" t="t" r="r" b="b"/>
            <a:pathLst>
              <a:path w="7835077" h="10939025">
                <a:moveTo>
                  <a:pt x="0" y="0"/>
                </a:moveTo>
                <a:lnTo>
                  <a:pt x="7835076" y="0"/>
                </a:lnTo>
                <a:lnTo>
                  <a:pt x="7835076" y="10939026"/>
                </a:lnTo>
                <a:lnTo>
                  <a:pt x="0" y="109390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5307472" y="6672678"/>
            <a:ext cx="7673056" cy="7673056"/>
          </a:xfrm>
          <a:custGeom>
            <a:avLst/>
            <a:gdLst/>
            <a:ahLst/>
            <a:cxnLst/>
            <a:rect l="l" t="t" r="r" b="b"/>
            <a:pathLst>
              <a:path w="7673056" h="7673056">
                <a:moveTo>
                  <a:pt x="0" y="0"/>
                </a:moveTo>
                <a:lnTo>
                  <a:pt x="7673056" y="0"/>
                </a:lnTo>
                <a:lnTo>
                  <a:pt x="7673056" y="7673056"/>
                </a:lnTo>
                <a:lnTo>
                  <a:pt x="0" y="7673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8024816" y="5501099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8" y="0"/>
                </a:lnTo>
                <a:lnTo>
                  <a:pt x="2238368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5" name="Freeform 5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1539534" y="7377531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4510099" y="7377531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2106315" y="7936159"/>
            <a:ext cx="1104804" cy="1121111"/>
          </a:xfrm>
          <a:custGeom>
            <a:avLst/>
            <a:gdLst/>
            <a:ahLst/>
            <a:cxnLst/>
            <a:rect l="l" t="t" r="r" b="b"/>
            <a:pathLst>
              <a:path w="1104804" h="1121111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0" name="Group 10"/>
          <p:cNvGrpSpPr/>
          <p:nvPr/>
        </p:nvGrpSpPr>
        <p:grpSpPr>
          <a:xfrm>
            <a:off x="1774426" y="3206190"/>
            <a:ext cx="3474003" cy="647719"/>
            <a:chOff x="0" y="0"/>
            <a:chExt cx="914964" cy="170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S + P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chemeClr val="bg1"/>
                  </a:solidFill>
                  <a:latin typeface="DM Sans Bold"/>
                </a:rPr>
                <a:t>S + P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87170" y="1277407"/>
            <a:ext cx="11552977" cy="1166718"/>
          </a:xfrm>
          <a:prstGeom prst="rect">
            <a:avLst/>
          </a:prstGeom>
          <a:solidFill>
            <a:srgbClr val="FFC000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spc="368" dirty="0">
                <a:solidFill>
                  <a:srgbClr val="C00000"/>
                </a:solidFill>
                <a:latin typeface="Oswald Bold"/>
              </a:rPr>
              <a:t>CONTOH KALIMAT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0975" y="4045241"/>
            <a:ext cx="3360904" cy="10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Anissa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tidur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Dia 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guru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Indonesia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cantik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218805" y="3206190"/>
            <a:ext cx="3474003" cy="647719"/>
            <a:chOff x="0" y="0"/>
            <a:chExt cx="914964" cy="17059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S + P + O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 Bold"/>
                </a:rPr>
                <a:t>S + P + O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138875" y="4042536"/>
            <a:ext cx="6254887" cy="10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Pak Yadi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menjual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>
                <a:solidFill>
                  <a:srgbClr val="C00000"/>
                </a:solidFill>
                <a:latin typeface="DM Sans"/>
              </a:rPr>
              <a:t>es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buah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Kelinci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mengejar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kura-kura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Indonesia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membutuhkan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perubahan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3284209" y="3206190"/>
            <a:ext cx="3474003" cy="647719"/>
            <a:chOff x="0" y="0"/>
            <a:chExt cx="914964" cy="17059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 S + P + Pel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 Bold"/>
                </a:rPr>
                <a:t> S + P + PEL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2663184" y="4045241"/>
            <a:ext cx="5320016" cy="1420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Adik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bersuara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merdu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Saya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tertawa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terbahak-bahak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Dia </a:t>
            </a:r>
            <a:r>
              <a:rPr lang="en-US" sz="2010" b="1" spc="197" dirty="0" err="1">
                <a:solidFill>
                  <a:srgbClr val="00B050"/>
                </a:solidFill>
                <a:latin typeface="DM Sans"/>
              </a:rPr>
              <a:t>menangis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C00000"/>
                </a:solidFill>
                <a:latin typeface="DM Sans"/>
              </a:rPr>
              <a:t>tersedu-sedu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endParaRPr lang="en-US" sz="2010" b="1" spc="197" dirty="0">
              <a:solidFill>
                <a:srgbClr val="231F20"/>
              </a:solidFill>
              <a:latin typeface="DM Sans"/>
            </a:endParaRPr>
          </a:p>
        </p:txBody>
      </p:sp>
      <p:sp>
        <p:nvSpPr>
          <p:cNvPr id="23" name="Freeform 23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4" name="Freeform 24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>
            <a:off x="5307472" y="6672678"/>
            <a:ext cx="7673056" cy="7673056"/>
          </a:xfrm>
          <a:custGeom>
            <a:avLst/>
            <a:gdLst/>
            <a:ahLst/>
            <a:cxnLst/>
            <a:rect l="l" t="t" r="r" b="b"/>
            <a:pathLst>
              <a:path w="7673056" h="7673056">
                <a:moveTo>
                  <a:pt x="0" y="0"/>
                </a:moveTo>
                <a:lnTo>
                  <a:pt x="7673056" y="0"/>
                </a:lnTo>
                <a:lnTo>
                  <a:pt x="7673056" y="7673056"/>
                </a:lnTo>
                <a:lnTo>
                  <a:pt x="0" y="7673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8024816" y="5501099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8" y="0"/>
                </a:lnTo>
                <a:lnTo>
                  <a:pt x="2238368" y="2238367"/>
                </a:lnTo>
                <a:lnTo>
                  <a:pt x="0" y="22383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5" name="Freeform 5"/>
          <p:cNvSpPr/>
          <p:nvPr/>
        </p:nvSpPr>
        <p:spPr>
          <a:xfrm>
            <a:off x="8663659" y="6071953"/>
            <a:ext cx="960682" cy="1052540"/>
          </a:xfrm>
          <a:custGeom>
            <a:avLst/>
            <a:gdLst/>
            <a:ahLst/>
            <a:cxnLst/>
            <a:rect l="l" t="t" r="r" b="b"/>
            <a:pathLst>
              <a:path w="960682" h="1052540">
                <a:moveTo>
                  <a:pt x="0" y="0"/>
                </a:moveTo>
                <a:lnTo>
                  <a:pt x="960682" y="0"/>
                </a:lnTo>
                <a:lnTo>
                  <a:pt x="960682" y="1052541"/>
                </a:lnTo>
                <a:lnTo>
                  <a:pt x="0" y="10525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6" name="Freeform 6"/>
          <p:cNvSpPr/>
          <p:nvPr/>
        </p:nvSpPr>
        <p:spPr>
          <a:xfrm>
            <a:off x="11539534" y="7377531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4510099" y="7377531"/>
            <a:ext cx="2238367" cy="2238367"/>
          </a:xfrm>
          <a:custGeom>
            <a:avLst/>
            <a:gdLst/>
            <a:ahLst/>
            <a:cxnLst/>
            <a:rect l="l" t="t" r="r" b="b"/>
            <a:pathLst>
              <a:path w="2238367" h="2238367">
                <a:moveTo>
                  <a:pt x="0" y="0"/>
                </a:moveTo>
                <a:lnTo>
                  <a:pt x="2238367" y="0"/>
                </a:lnTo>
                <a:lnTo>
                  <a:pt x="2238367" y="2238368"/>
                </a:lnTo>
                <a:lnTo>
                  <a:pt x="0" y="22383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8" name="Freeform 8"/>
          <p:cNvSpPr/>
          <p:nvPr/>
        </p:nvSpPr>
        <p:spPr>
          <a:xfrm>
            <a:off x="4994936" y="7891202"/>
            <a:ext cx="1268693" cy="1211025"/>
          </a:xfrm>
          <a:custGeom>
            <a:avLst/>
            <a:gdLst/>
            <a:ahLst/>
            <a:cxnLst/>
            <a:rect l="l" t="t" r="r" b="b"/>
            <a:pathLst>
              <a:path w="1268693" h="1211025">
                <a:moveTo>
                  <a:pt x="0" y="0"/>
                </a:moveTo>
                <a:lnTo>
                  <a:pt x="1268693" y="0"/>
                </a:lnTo>
                <a:lnTo>
                  <a:pt x="1268693" y="1211025"/>
                </a:lnTo>
                <a:lnTo>
                  <a:pt x="0" y="12110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>
            <a:off x="12106315" y="7936159"/>
            <a:ext cx="1104804" cy="1121111"/>
          </a:xfrm>
          <a:custGeom>
            <a:avLst/>
            <a:gdLst/>
            <a:ahLst/>
            <a:cxnLst/>
            <a:rect l="l" t="t" r="r" b="b"/>
            <a:pathLst>
              <a:path w="1104804" h="1121111">
                <a:moveTo>
                  <a:pt x="0" y="0"/>
                </a:moveTo>
                <a:lnTo>
                  <a:pt x="1104805" y="0"/>
                </a:lnTo>
                <a:lnTo>
                  <a:pt x="1104805" y="1121111"/>
                </a:lnTo>
                <a:lnTo>
                  <a:pt x="0" y="11211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0" name="Group 10"/>
          <p:cNvGrpSpPr/>
          <p:nvPr/>
        </p:nvGrpSpPr>
        <p:grpSpPr>
          <a:xfrm>
            <a:off x="1774426" y="3206190"/>
            <a:ext cx="3474003" cy="647719"/>
            <a:chOff x="0" y="0"/>
            <a:chExt cx="914964" cy="1705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KATA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chemeClr val="bg1"/>
                  </a:solidFill>
                  <a:latin typeface="DM Sans Bold"/>
                </a:rPr>
                <a:t>S + P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887170" y="1277407"/>
            <a:ext cx="11552977" cy="1166718"/>
          </a:xfrm>
          <a:prstGeom prst="rect">
            <a:avLst/>
          </a:prstGeom>
          <a:solidFill>
            <a:srgbClr val="FFC000"/>
          </a:solidFill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sz="6947" spc="368" dirty="0">
                <a:solidFill>
                  <a:srgbClr val="C00000"/>
                </a:solidFill>
                <a:latin typeface="Oswald Bold"/>
              </a:rPr>
              <a:t>KATA, FRASA, KLAUSA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30975" y="4045241"/>
            <a:ext cx="3360904" cy="1061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Anissa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tidur</a:t>
            </a:r>
            <a:r>
              <a:rPr lang="en-US" sz="2010" b="1" spc="197" dirty="0">
                <a:latin typeface="DM Sans"/>
              </a:rPr>
              <a:t>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Dia</a:t>
            </a:r>
            <a:r>
              <a:rPr lang="en-US" sz="2010" b="1" spc="197" dirty="0">
                <a:latin typeface="DM Sans"/>
              </a:rPr>
              <a:t> guru.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Indonesia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cantik</a:t>
            </a:r>
            <a:r>
              <a:rPr lang="en-US" sz="2010" b="1" spc="197" dirty="0">
                <a:latin typeface="DM Sans"/>
              </a:rPr>
              <a:t>.</a:t>
            </a:r>
          </a:p>
        </p:txBody>
      </p:sp>
      <p:sp>
        <p:nvSpPr>
          <p:cNvPr id="23" name="Freeform 23"/>
          <p:cNvSpPr/>
          <p:nvPr/>
        </p:nvSpPr>
        <p:spPr>
          <a:xfrm>
            <a:off x="14479722" y="-4833750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4" name="Freeform 24"/>
          <p:cNvSpPr/>
          <p:nvPr/>
        </p:nvSpPr>
        <p:spPr>
          <a:xfrm rot="-4176364">
            <a:off x="-4105129" y="653023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6"/>
                </a:lnTo>
                <a:lnTo>
                  <a:pt x="0" y="78154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25" name="Group 15">
            <a:extLst>
              <a:ext uri="{FF2B5EF4-FFF2-40B4-BE49-F238E27FC236}">
                <a16:creationId xmlns:a16="http://schemas.microsoft.com/office/drawing/2014/main" id="{5F395883-58E0-C6B2-BB79-74C565B3106E}"/>
              </a:ext>
            </a:extLst>
          </p:cNvPr>
          <p:cNvGrpSpPr/>
          <p:nvPr/>
        </p:nvGrpSpPr>
        <p:grpSpPr>
          <a:xfrm>
            <a:off x="7218805" y="3206190"/>
            <a:ext cx="3474003" cy="647719"/>
            <a:chOff x="0" y="0"/>
            <a:chExt cx="914964" cy="170593"/>
          </a:xfrm>
        </p:grpSpPr>
        <p:sp>
          <p:nvSpPr>
            <p:cNvPr id="26" name="Freeform 16">
              <a:extLst>
                <a:ext uri="{FF2B5EF4-FFF2-40B4-BE49-F238E27FC236}">
                  <a16:creationId xmlns:a16="http://schemas.microsoft.com/office/drawing/2014/main" id="{7E61C53E-09E1-464E-8E2D-CB395C4B7A53}"/>
                </a:ext>
              </a:extLst>
            </p:cNvPr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FRASA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TextBox 17">
              <a:extLst>
                <a:ext uri="{FF2B5EF4-FFF2-40B4-BE49-F238E27FC236}">
                  <a16:creationId xmlns:a16="http://schemas.microsoft.com/office/drawing/2014/main" id="{548803E0-CF50-031B-003E-D5AA4844D2FD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 Bold"/>
                </a:rPr>
                <a:t>S + P + O</a:t>
              </a:r>
            </a:p>
          </p:txBody>
        </p:sp>
      </p:grpSp>
      <p:sp>
        <p:nvSpPr>
          <p:cNvPr id="28" name="TextBox 18">
            <a:extLst>
              <a:ext uri="{FF2B5EF4-FFF2-40B4-BE49-F238E27FC236}">
                <a16:creationId xmlns:a16="http://schemas.microsoft.com/office/drawing/2014/main" id="{C424FFD5-F8C4-04FB-0AFF-C169C84FCBDE}"/>
              </a:ext>
            </a:extLst>
          </p:cNvPr>
          <p:cNvSpPr txBox="1"/>
          <p:nvPr/>
        </p:nvSpPr>
        <p:spPr>
          <a:xfrm>
            <a:off x="6138875" y="4042536"/>
            <a:ext cx="6254887" cy="701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Perempuan 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yang</a:t>
            </a: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berkemeja</a:t>
            </a: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putih</a:t>
            </a: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 dan </a:t>
            </a: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bercelana</a:t>
            </a: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hitam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itu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tidur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grpSp>
        <p:nvGrpSpPr>
          <p:cNvPr id="29" name="Group 19">
            <a:extLst>
              <a:ext uri="{FF2B5EF4-FFF2-40B4-BE49-F238E27FC236}">
                <a16:creationId xmlns:a16="http://schemas.microsoft.com/office/drawing/2014/main" id="{81260D21-7951-027A-640A-590FBB30BBD5}"/>
              </a:ext>
            </a:extLst>
          </p:cNvPr>
          <p:cNvGrpSpPr/>
          <p:nvPr/>
        </p:nvGrpSpPr>
        <p:grpSpPr>
          <a:xfrm>
            <a:off x="13284209" y="3206190"/>
            <a:ext cx="3474003" cy="647719"/>
            <a:chOff x="0" y="0"/>
            <a:chExt cx="914964" cy="170593"/>
          </a:xfrm>
        </p:grpSpPr>
        <p:sp>
          <p:nvSpPr>
            <p:cNvPr id="30" name="Freeform 20">
              <a:extLst>
                <a:ext uri="{FF2B5EF4-FFF2-40B4-BE49-F238E27FC236}">
                  <a16:creationId xmlns:a16="http://schemas.microsoft.com/office/drawing/2014/main" id="{D2553627-4D2C-3D89-12DC-104156805AB6}"/>
                </a:ext>
              </a:extLst>
            </p:cNvPr>
            <p:cNvSpPr/>
            <p:nvPr/>
          </p:nvSpPr>
          <p:spPr>
            <a:xfrm>
              <a:off x="0" y="0"/>
              <a:ext cx="914964" cy="170593"/>
            </a:xfrm>
            <a:custGeom>
              <a:avLst/>
              <a:gdLst/>
              <a:ahLst/>
              <a:cxnLst/>
              <a:rect l="l" t="t" r="r" b="b"/>
              <a:pathLst>
                <a:path w="914964" h="170593">
                  <a:moveTo>
                    <a:pt x="0" y="0"/>
                  </a:moveTo>
                  <a:lnTo>
                    <a:pt x="914964" y="0"/>
                  </a:lnTo>
                  <a:lnTo>
                    <a:pt x="914964" y="170593"/>
                  </a:lnTo>
                  <a:lnTo>
                    <a:pt x="0" y="170593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</a:rPr>
                <a:t>KLAUSA</a:t>
              </a:r>
              <a:endParaRPr lang="en-ID" sz="36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TextBox 21">
              <a:extLst>
                <a:ext uri="{FF2B5EF4-FFF2-40B4-BE49-F238E27FC236}">
                  <a16:creationId xmlns:a16="http://schemas.microsoft.com/office/drawing/2014/main" id="{2BE6C9A3-14EF-4033-BBDA-71F023B157FE}"/>
                </a:ext>
              </a:extLst>
            </p:cNvPr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r>
                <a:rPr lang="en-US" sz="2981" spc="29">
                  <a:solidFill>
                    <a:srgbClr val="FFFFFF"/>
                  </a:solidFill>
                  <a:latin typeface="DM Sans Bold"/>
                </a:rPr>
                <a:t> S + P + PEL</a:t>
              </a:r>
            </a:p>
          </p:txBody>
        </p:sp>
      </p:grpSp>
      <p:sp>
        <p:nvSpPr>
          <p:cNvPr id="32" name="TextBox 22">
            <a:extLst>
              <a:ext uri="{FF2B5EF4-FFF2-40B4-BE49-F238E27FC236}">
                <a16:creationId xmlns:a16="http://schemas.microsoft.com/office/drawing/2014/main" id="{74B07535-B28D-E6D8-F569-9CD2A7B0F15E}"/>
              </a:ext>
            </a:extLst>
          </p:cNvPr>
          <p:cNvSpPr txBox="1"/>
          <p:nvPr/>
        </p:nvSpPr>
        <p:spPr>
          <a:xfrm>
            <a:off x="12663184" y="4045241"/>
            <a:ext cx="5320016" cy="14201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dia</a:t>
            </a:r>
            <a:r>
              <a:rPr lang="en-US" sz="2010" b="1" spc="197" dirty="0">
                <a:solidFill>
                  <a:srgbClr val="FF0000"/>
                </a:solidFill>
                <a:latin typeface="DM Sans"/>
              </a:rPr>
              <a:t> </a:t>
            </a:r>
            <a:r>
              <a:rPr lang="en-US" sz="2010" b="1" spc="197" dirty="0" err="1">
                <a:solidFill>
                  <a:srgbClr val="FF0000"/>
                </a:solidFill>
                <a:latin typeface="DM Sans"/>
              </a:rPr>
              <a:t>pergi</a:t>
            </a:r>
            <a:r>
              <a:rPr lang="en-US" sz="2010" b="1" spc="197" dirty="0">
                <a:latin typeface="DM Sans"/>
              </a:rPr>
              <a:t> 	 – “</a:t>
            </a:r>
            <a:r>
              <a:rPr lang="en-US" sz="2010" b="1" spc="197" dirty="0" err="1">
                <a:latin typeface="DM Sans"/>
              </a:rPr>
              <a:t>bahan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mentah</a:t>
            </a:r>
            <a:r>
              <a:rPr lang="en-US" sz="2010" b="1" spc="197" dirty="0">
                <a:latin typeface="DM Sans"/>
              </a:rPr>
              <a:t>”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D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ia </a:t>
            </a: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pergi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.  </a:t>
            </a:r>
            <a:r>
              <a:rPr lang="en-US" sz="2010" b="1" spc="197" dirty="0">
                <a:latin typeface="DM Sans"/>
              </a:rPr>
              <a:t>– </a:t>
            </a:r>
            <a:r>
              <a:rPr lang="en-US" sz="2010" b="1" spc="197" dirty="0" err="1">
                <a:latin typeface="DM Sans"/>
              </a:rPr>
              <a:t>kalimat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deklarasi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 </a:t>
            </a: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D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ia </a:t>
            </a: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pergi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?	 </a:t>
            </a:r>
            <a:r>
              <a:rPr lang="en-US" sz="2010" b="1" spc="197" dirty="0">
                <a:latin typeface="DM Sans"/>
              </a:rPr>
              <a:t>– </a:t>
            </a:r>
            <a:r>
              <a:rPr lang="en-US" sz="2010" b="1" spc="197" dirty="0" err="1">
                <a:latin typeface="DM Sans"/>
              </a:rPr>
              <a:t>kalimat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tanya</a:t>
            </a:r>
            <a:endParaRPr lang="en-US" sz="2010" b="1" spc="197" dirty="0">
              <a:latin typeface="DM Sans"/>
            </a:endParaRPr>
          </a:p>
          <a:p>
            <a:pPr marL="342900" lvl="0" indent="-342900">
              <a:lnSpc>
                <a:spcPts val="2774"/>
              </a:lnSpc>
              <a:spcBef>
                <a:spcPct val="0"/>
              </a:spcBef>
              <a:buFontTx/>
              <a:buChar char="-"/>
            </a:pP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D</a:t>
            </a:r>
            <a:r>
              <a:rPr lang="en-US" sz="2010" b="1" spc="197" dirty="0">
                <a:solidFill>
                  <a:srgbClr val="231F20"/>
                </a:solidFill>
                <a:latin typeface="DM Sans"/>
              </a:rPr>
              <a:t>ia </a:t>
            </a:r>
            <a:r>
              <a:rPr lang="en-US" sz="2010" b="1" spc="197" dirty="0" err="1">
                <a:solidFill>
                  <a:srgbClr val="231F20"/>
                </a:solidFill>
                <a:latin typeface="DM Sans"/>
              </a:rPr>
              <a:t>pergi</a:t>
            </a:r>
            <a:r>
              <a:rPr lang="en-US" sz="2010" b="1" spc="197" dirty="0">
                <a:solidFill>
                  <a:srgbClr val="00B050"/>
                </a:solidFill>
                <a:latin typeface="DM Sans"/>
              </a:rPr>
              <a:t>!	 </a:t>
            </a:r>
            <a:r>
              <a:rPr lang="en-US" sz="2010" b="1" spc="197" dirty="0">
                <a:latin typeface="DM Sans"/>
              </a:rPr>
              <a:t>– </a:t>
            </a:r>
            <a:r>
              <a:rPr lang="en-US" sz="2010" b="1" spc="197" dirty="0" err="1">
                <a:latin typeface="DM Sans"/>
              </a:rPr>
              <a:t>kalimat</a:t>
            </a:r>
            <a:r>
              <a:rPr lang="en-US" sz="2010" b="1" spc="197" dirty="0">
                <a:latin typeface="DM Sans"/>
              </a:rPr>
              <a:t> </a:t>
            </a:r>
            <a:r>
              <a:rPr lang="en-US" sz="2010" b="1" spc="197" dirty="0" err="1">
                <a:latin typeface="DM Sans"/>
              </a:rPr>
              <a:t>seruan</a:t>
            </a:r>
            <a:endParaRPr lang="en-US" sz="2010" b="1" spc="197" dirty="0">
              <a:latin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4105440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257863">
            <a:off x="-571305" y="6150994"/>
            <a:ext cx="21273218" cy="9128145"/>
          </a:xfrm>
          <a:custGeom>
            <a:avLst/>
            <a:gdLst/>
            <a:ahLst/>
            <a:cxnLst/>
            <a:rect l="l" t="t" r="r" b="b"/>
            <a:pathLst>
              <a:path w="21273218" h="9128145">
                <a:moveTo>
                  <a:pt x="0" y="0"/>
                </a:moveTo>
                <a:lnTo>
                  <a:pt x="21273219" y="0"/>
                </a:lnTo>
                <a:lnTo>
                  <a:pt x="21273219" y="9128145"/>
                </a:lnTo>
                <a:lnTo>
                  <a:pt x="0" y="912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4" name="Freeform 4"/>
          <p:cNvSpPr/>
          <p:nvPr/>
        </p:nvSpPr>
        <p:spPr>
          <a:xfrm>
            <a:off x="11885510" y="8765585"/>
            <a:ext cx="4128022" cy="437161"/>
          </a:xfrm>
          <a:custGeom>
            <a:avLst/>
            <a:gdLst/>
            <a:ahLst/>
            <a:cxnLst/>
            <a:rect l="l" t="t" r="r" b="b"/>
            <a:pathLst>
              <a:path w="4128022" h="437161">
                <a:moveTo>
                  <a:pt x="0" y="0"/>
                </a:moveTo>
                <a:lnTo>
                  <a:pt x="4128022" y="0"/>
                </a:lnTo>
                <a:lnTo>
                  <a:pt x="4128022" y="437161"/>
                </a:lnTo>
                <a:lnTo>
                  <a:pt x="0" y="437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5" name="Group 5"/>
          <p:cNvGrpSpPr/>
          <p:nvPr/>
        </p:nvGrpSpPr>
        <p:grpSpPr>
          <a:xfrm>
            <a:off x="11900353" y="4678112"/>
            <a:ext cx="4113179" cy="4087473"/>
            <a:chOff x="0" y="0"/>
            <a:chExt cx="1279723" cy="12717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9723" cy="1271725"/>
            </a:xfrm>
            <a:custGeom>
              <a:avLst/>
              <a:gdLst/>
              <a:ahLst/>
              <a:cxnLst/>
              <a:rect l="l" t="t" r="r" b="b"/>
              <a:pathLst>
                <a:path w="1279723" h="1271725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080191" y="8765585"/>
            <a:ext cx="4128022" cy="437161"/>
          </a:xfrm>
          <a:custGeom>
            <a:avLst/>
            <a:gdLst/>
            <a:ahLst/>
            <a:cxnLst/>
            <a:rect l="l" t="t" r="r" b="b"/>
            <a:pathLst>
              <a:path w="4128022" h="437161">
                <a:moveTo>
                  <a:pt x="0" y="0"/>
                </a:moveTo>
                <a:lnTo>
                  <a:pt x="4128021" y="0"/>
                </a:lnTo>
                <a:lnTo>
                  <a:pt x="4128021" y="437161"/>
                </a:lnTo>
                <a:lnTo>
                  <a:pt x="0" y="437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9" name="Group 9"/>
          <p:cNvGrpSpPr/>
          <p:nvPr/>
        </p:nvGrpSpPr>
        <p:grpSpPr>
          <a:xfrm>
            <a:off x="7095033" y="4678112"/>
            <a:ext cx="4113179" cy="4087473"/>
            <a:chOff x="0" y="0"/>
            <a:chExt cx="1279723" cy="12717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9723" cy="1271725"/>
            </a:xfrm>
            <a:custGeom>
              <a:avLst/>
              <a:gdLst/>
              <a:ahLst/>
              <a:cxnLst/>
              <a:rect l="l" t="t" r="r" b="b"/>
              <a:pathLst>
                <a:path w="1279723" h="1271725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2274468" y="8765585"/>
            <a:ext cx="4128022" cy="437161"/>
          </a:xfrm>
          <a:custGeom>
            <a:avLst/>
            <a:gdLst/>
            <a:ahLst/>
            <a:cxnLst/>
            <a:rect l="l" t="t" r="r" b="b"/>
            <a:pathLst>
              <a:path w="4128022" h="437161">
                <a:moveTo>
                  <a:pt x="0" y="0"/>
                </a:moveTo>
                <a:lnTo>
                  <a:pt x="4128022" y="0"/>
                </a:lnTo>
                <a:lnTo>
                  <a:pt x="4128022" y="437161"/>
                </a:lnTo>
                <a:lnTo>
                  <a:pt x="0" y="4371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6495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3" name="Group 13"/>
          <p:cNvGrpSpPr/>
          <p:nvPr/>
        </p:nvGrpSpPr>
        <p:grpSpPr>
          <a:xfrm>
            <a:off x="2289311" y="4678112"/>
            <a:ext cx="4113179" cy="4087473"/>
            <a:chOff x="0" y="0"/>
            <a:chExt cx="1279723" cy="127172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9723" cy="1271725"/>
            </a:xfrm>
            <a:custGeom>
              <a:avLst/>
              <a:gdLst/>
              <a:ahLst/>
              <a:cxnLst/>
              <a:rect l="l" t="t" r="r" b="b"/>
              <a:pathLst>
                <a:path w="1279723" h="1271725">
                  <a:moveTo>
                    <a:pt x="0" y="0"/>
                  </a:moveTo>
                  <a:lnTo>
                    <a:pt x="1279723" y="0"/>
                  </a:lnTo>
                  <a:lnTo>
                    <a:pt x="1279723" y="1271725"/>
                  </a:lnTo>
                  <a:lnTo>
                    <a:pt x="0" y="1271725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812800" cy="869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21316" y="3653528"/>
            <a:ext cx="2049168" cy="204916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119617" y="3653528"/>
            <a:ext cx="2049168" cy="2049168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933709" y="3653528"/>
            <a:ext cx="2049168" cy="2049168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11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Freeform 25" descr="Suburban scene"/>
          <p:cNvSpPr/>
          <p:nvPr/>
        </p:nvSpPr>
        <p:spPr>
          <a:xfrm>
            <a:off x="3546203" y="3800799"/>
            <a:ext cx="1544173" cy="1640670"/>
          </a:xfrm>
          <a:custGeom>
            <a:avLst/>
            <a:gdLst/>
            <a:ahLst/>
            <a:cxnLst/>
            <a:rect l="l" t="t" r="r" b="b"/>
            <a:pathLst>
              <a:path w="1211702" h="1322294">
                <a:moveTo>
                  <a:pt x="0" y="0"/>
                </a:moveTo>
                <a:lnTo>
                  <a:pt x="1211702" y="0"/>
                </a:lnTo>
                <a:lnTo>
                  <a:pt x="1211702" y="1322294"/>
                </a:lnTo>
                <a:lnTo>
                  <a:pt x="0" y="13222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6" name="Freeform 26"/>
          <p:cNvSpPr/>
          <p:nvPr/>
        </p:nvSpPr>
        <p:spPr>
          <a:xfrm>
            <a:off x="8563658" y="4016965"/>
            <a:ext cx="1160684" cy="1349765"/>
          </a:xfrm>
          <a:custGeom>
            <a:avLst/>
            <a:gdLst/>
            <a:ahLst/>
            <a:cxnLst/>
            <a:rect l="l" t="t" r="r" b="b"/>
            <a:pathLst>
              <a:path w="1160684" h="1393835">
                <a:moveTo>
                  <a:pt x="0" y="0"/>
                </a:moveTo>
                <a:lnTo>
                  <a:pt x="1160684" y="0"/>
                </a:lnTo>
                <a:lnTo>
                  <a:pt x="1160684" y="1393835"/>
                </a:lnTo>
                <a:lnTo>
                  <a:pt x="0" y="13938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7" name="Freeform 27"/>
          <p:cNvSpPr/>
          <p:nvPr/>
        </p:nvSpPr>
        <p:spPr>
          <a:xfrm>
            <a:off x="13272985" y="3986188"/>
            <a:ext cx="1353071" cy="1353071"/>
          </a:xfrm>
          <a:custGeom>
            <a:avLst/>
            <a:gdLst/>
            <a:ahLst/>
            <a:cxnLst/>
            <a:rect l="l" t="t" r="r" b="b"/>
            <a:pathLst>
              <a:path w="1353071" h="1353071">
                <a:moveTo>
                  <a:pt x="0" y="0"/>
                </a:moveTo>
                <a:lnTo>
                  <a:pt x="1353071" y="0"/>
                </a:lnTo>
                <a:lnTo>
                  <a:pt x="1353071" y="1353071"/>
                </a:lnTo>
                <a:lnTo>
                  <a:pt x="0" y="13530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8" name="TextBox 28"/>
          <p:cNvSpPr txBox="1"/>
          <p:nvPr/>
        </p:nvSpPr>
        <p:spPr>
          <a:xfrm>
            <a:off x="2343797" y="1155414"/>
            <a:ext cx="13617940" cy="1594088"/>
          </a:xfrm>
          <a:prstGeom prst="rect">
            <a:avLst/>
          </a:prstGeom>
          <a:solidFill>
            <a:srgbClr val="FFC000"/>
          </a:solidFill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15"/>
              </a:lnSpc>
              <a:spcBef>
                <a:spcPct val="0"/>
              </a:spcBef>
            </a:pPr>
            <a:r>
              <a:rPr lang="en-US" sz="9431" spc="924" dirty="0">
                <a:solidFill>
                  <a:srgbClr val="C00000"/>
                </a:solidFill>
                <a:latin typeface="Oswald Bold"/>
              </a:rPr>
              <a:t>KETERANGAN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74589" y="5624704"/>
            <a:ext cx="3542623" cy="1832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di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rumah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sakit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ke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persimpangan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jalan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dari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luar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angkasa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dalam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pembahasan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itu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pada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diskusi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tersebut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endParaRPr lang="en-US" sz="1722" b="1" spc="168" dirty="0">
              <a:solidFill>
                <a:srgbClr val="FFFBFB"/>
              </a:solidFill>
              <a:latin typeface="DM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372688" y="5624704"/>
            <a:ext cx="3542623" cy="152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pada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hari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Selasa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ketika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tidak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hujan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saat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musim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kemarau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sebelum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tes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berlangsung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setelah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merebus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mi.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78209" y="5624704"/>
            <a:ext cx="3542623" cy="152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dengan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sebaik-baiknya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dengan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gunting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secara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bersamaan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jika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nilainya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bagus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  <a:p>
            <a:pPr>
              <a:lnSpc>
                <a:spcPts val="2377"/>
              </a:lnSpc>
            </a:pP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... </a:t>
            </a:r>
            <a:r>
              <a:rPr lang="en-US" sz="1722" b="1" spc="168" dirty="0" err="1">
                <a:solidFill>
                  <a:srgbClr val="FFFBFB"/>
                </a:solidFill>
                <a:highlight>
                  <a:srgbClr val="FF0000"/>
                </a:highlight>
                <a:latin typeface="DM Sans"/>
              </a:rPr>
              <a:t>apabila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siswa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telah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 </a:t>
            </a:r>
            <a:r>
              <a:rPr lang="en-US" sz="1722" b="1" spc="168" dirty="0" err="1">
                <a:solidFill>
                  <a:srgbClr val="FFFBFB"/>
                </a:solidFill>
                <a:latin typeface="DM Sans"/>
              </a:rPr>
              <a:t>hadir</a:t>
            </a:r>
            <a:r>
              <a:rPr lang="en-US" sz="1722" b="1" spc="168" dirty="0">
                <a:solidFill>
                  <a:srgbClr val="FFFBFB"/>
                </a:solidFill>
                <a:latin typeface="DM Sans"/>
              </a:rPr>
              <a:t>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58454" y="7781814"/>
            <a:ext cx="2974893" cy="52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</a:rPr>
              <a:t> KET. TEMPAT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65320" y="7781814"/>
            <a:ext cx="2974893" cy="52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>
                <a:solidFill>
                  <a:srgbClr val="FDFBFB"/>
                </a:solidFill>
                <a:latin typeface="Oswald"/>
              </a:rPr>
              <a:t>KET. WAKTU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178208" y="7781814"/>
            <a:ext cx="3542623" cy="495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208"/>
              </a:lnSpc>
              <a:spcBef>
                <a:spcPct val="0"/>
              </a:spcBef>
            </a:pPr>
            <a:r>
              <a:rPr lang="en-US" sz="3049" spc="298" dirty="0">
                <a:solidFill>
                  <a:srgbClr val="FDFBFB"/>
                </a:solidFill>
                <a:latin typeface="Oswald"/>
              </a:rPr>
              <a:t>KET. CARA, SYARAT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" name="Freeform 3"/>
          <p:cNvSpPr/>
          <p:nvPr/>
        </p:nvSpPr>
        <p:spPr>
          <a:xfrm rot="887923">
            <a:off x="13475833" y="-8787301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4" name="Group 4"/>
          <p:cNvGrpSpPr/>
          <p:nvPr/>
        </p:nvGrpSpPr>
        <p:grpSpPr>
          <a:xfrm>
            <a:off x="4260093" y="4229100"/>
            <a:ext cx="2932415" cy="2351362"/>
            <a:chOff x="0" y="0"/>
            <a:chExt cx="1075555" cy="86243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75555" cy="862436"/>
            </a:xfrm>
            <a:custGeom>
              <a:avLst/>
              <a:gdLst/>
              <a:ahLst/>
              <a:cxnLst/>
              <a:rect l="l" t="t" r="r" b="b"/>
              <a:pathLst>
                <a:path w="1075555" h="862436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780592"/>
                  </a:lnTo>
                  <a:cubicBezTo>
                    <a:pt x="1075555" y="825793"/>
                    <a:pt x="1038913" y="862436"/>
                    <a:pt x="993712" y="862436"/>
                  </a:cubicBezTo>
                  <a:lnTo>
                    <a:pt x="81844" y="862436"/>
                  </a:lnTo>
                  <a:cubicBezTo>
                    <a:pt x="60137" y="862436"/>
                    <a:pt x="39320" y="853813"/>
                    <a:pt x="23971" y="838465"/>
                  </a:cubicBezTo>
                  <a:cubicBezTo>
                    <a:pt x="8623" y="823116"/>
                    <a:pt x="0" y="802299"/>
                    <a:pt x="0" y="780592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60093" y="6895603"/>
            <a:ext cx="2932415" cy="847111"/>
            <a:chOff x="0" y="0"/>
            <a:chExt cx="1075555" cy="31070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5555" cy="310705"/>
            </a:xfrm>
            <a:custGeom>
              <a:avLst/>
              <a:gdLst/>
              <a:ahLst/>
              <a:cxnLst/>
              <a:rect l="l" t="t" r="r" b="b"/>
              <a:pathLst>
                <a:path w="1075555" h="31070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228861"/>
                  </a:lnTo>
                  <a:cubicBezTo>
                    <a:pt x="1075555" y="250567"/>
                    <a:pt x="1066932" y="271385"/>
                    <a:pt x="1051584" y="286733"/>
                  </a:cubicBezTo>
                  <a:cubicBezTo>
                    <a:pt x="1036235" y="302082"/>
                    <a:pt x="1015418" y="310705"/>
                    <a:pt x="993712" y="310705"/>
                  </a:cubicBezTo>
                  <a:lnTo>
                    <a:pt x="81844" y="310705"/>
                  </a:lnTo>
                  <a:cubicBezTo>
                    <a:pt x="36643" y="310705"/>
                    <a:pt x="0" y="274062"/>
                    <a:pt x="0" y="22886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09637" y="4991100"/>
            <a:ext cx="3420293" cy="2455233"/>
            <a:chOff x="0" y="0"/>
            <a:chExt cx="1075555" cy="8624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5555" cy="862436"/>
            </a:xfrm>
            <a:custGeom>
              <a:avLst/>
              <a:gdLst/>
              <a:ahLst/>
              <a:cxnLst/>
              <a:rect l="l" t="t" r="r" b="b"/>
              <a:pathLst>
                <a:path w="1075555" h="862436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780592"/>
                  </a:lnTo>
                  <a:cubicBezTo>
                    <a:pt x="1075555" y="825793"/>
                    <a:pt x="1038913" y="862436"/>
                    <a:pt x="993712" y="862436"/>
                  </a:cubicBezTo>
                  <a:lnTo>
                    <a:pt x="81844" y="862436"/>
                  </a:lnTo>
                  <a:cubicBezTo>
                    <a:pt x="60137" y="862436"/>
                    <a:pt x="39320" y="853813"/>
                    <a:pt x="23971" y="838465"/>
                  </a:cubicBezTo>
                  <a:cubicBezTo>
                    <a:pt x="8623" y="823116"/>
                    <a:pt x="0" y="802299"/>
                    <a:pt x="0" y="780592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70732" y="7742714"/>
            <a:ext cx="2932415" cy="847111"/>
            <a:chOff x="0" y="0"/>
            <a:chExt cx="1075555" cy="31070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75555" cy="310705"/>
            </a:xfrm>
            <a:custGeom>
              <a:avLst/>
              <a:gdLst/>
              <a:ahLst/>
              <a:cxnLst/>
              <a:rect l="l" t="t" r="r" b="b"/>
              <a:pathLst>
                <a:path w="1075555" h="31070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228861"/>
                  </a:lnTo>
                  <a:cubicBezTo>
                    <a:pt x="1075555" y="250567"/>
                    <a:pt x="1066932" y="271385"/>
                    <a:pt x="1051584" y="286733"/>
                  </a:cubicBezTo>
                  <a:cubicBezTo>
                    <a:pt x="1036235" y="302082"/>
                    <a:pt x="1015418" y="310705"/>
                    <a:pt x="993712" y="310705"/>
                  </a:cubicBezTo>
                  <a:lnTo>
                    <a:pt x="81844" y="310705"/>
                  </a:lnTo>
                  <a:cubicBezTo>
                    <a:pt x="36643" y="310705"/>
                    <a:pt x="0" y="274062"/>
                    <a:pt x="0" y="22886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06030" y="3390900"/>
            <a:ext cx="3267193" cy="2428400"/>
            <a:chOff x="0" y="0"/>
            <a:chExt cx="1075555" cy="86243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5555" cy="862436"/>
            </a:xfrm>
            <a:custGeom>
              <a:avLst/>
              <a:gdLst/>
              <a:ahLst/>
              <a:cxnLst/>
              <a:rect l="l" t="t" r="r" b="b"/>
              <a:pathLst>
                <a:path w="1075555" h="862436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780592"/>
                  </a:lnTo>
                  <a:cubicBezTo>
                    <a:pt x="1075555" y="825793"/>
                    <a:pt x="1038913" y="862436"/>
                    <a:pt x="993712" y="862436"/>
                  </a:cubicBezTo>
                  <a:lnTo>
                    <a:pt x="81844" y="862436"/>
                  </a:lnTo>
                  <a:cubicBezTo>
                    <a:pt x="60137" y="862436"/>
                    <a:pt x="39320" y="853813"/>
                    <a:pt x="23971" y="838465"/>
                  </a:cubicBezTo>
                  <a:cubicBezTo>
                    <a:pt x="8623" y="823116"/>
                    <a:pt x="0" y="802299"/>
                    <a:pt x="0" y="780592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046312" y="6157334"/>
            <a:ext cx="2932415" cy="847111"/>
            <a:chOff x="0" y="0"/>
            <a:chExt cx="1075555" cy="31070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5555" cy="310705"/>
            </a:xfrm>
            <a:custGeom>
              <a:avLst/>
              <a:gdLst/>
              <a:ahLst/>
              <a:cxnLst/>
              <a:rect l="l" t="t" r="r" b="b"/>
              <a:pathLst>
                <a:path w="1075555" h="310705">
                  <a:moveTo>
                    <a:pt x="81844" y="0"/>
                  </a:moveTo>
                  <a:lnTo>
                    <a:pt x="993712" y="0"/>
                  </a:lnTo>
                  <a:cubicBezTo>
                    <a:pt x="1015418" y="0"/>
                    <a:pt x="1036235" y="8623"/>
                    <a:pt x="1051584" y="23971"/>
                  </a:cubicBezTo>
                  <a:cubicBezTo>
                    <a:pt x="1066932" y="39320"/>
                    <a:pt x="1075555" y="60137"/>
                    <a:pt x="1075555" y="81844"/>
                  </a:cubicBezTo>
                  <a:lnTo>
                    <a:pt x="1075555" y="228861"/>
                  </a:lnTo>
                  <a:cubicBezTo>
                    <a:pt x="1075555" y="250567"/>
                    <a:pt x="1066932" y="271385"/>
                    <a:pt x="1051584" y="286733"/>
                  </a:cubicBezTo>
                  <a:cubicBezTo>
                    <a:pt x="1036235" y="302082"/>
                    <a:pt x="1015418" y="310705"/>
                    <a:pt x="993712" y="310705"/>
                  </a:cubicBezTo>
                  <a:lnTo>
                    <a:pt x="81844" y="310705"/>
                  </a:lnTo>
                  <a:cubicBezTo>
                    <a:pt x="36643" y="310705"/>
                    <a:pt x="0" y="274062"/>
                    <a:pt x="0" y="228861"/>
                  </a:cubicBezTo>
                  <a:lnTo>
                    <a:pt x="0" y="81844"/>
                  </a:lnTo>
                  <a:cubicBezTo>
                    <a:pt x="0" y="60137"/>
                    <a:pt x="8623" y="39320"/>
                    <a:pt x="23971" y="23971"/>
                  </a:cubicBezTo>
                  <a:cubicBezTo>
                    <a:pt x="39320" y="8623"/>
                    <a:pt x="60137" y="0"/>
                    <a:pt x="81844" y="0"/>
                  </a:cubicBezTo>
                  <a:close/>
                </a:path>
              </a:pathLst>
            </a:custGeom>
            <a:solidFill>
              <a:srgbClr val="FFFFFF">
                <a:alpha val="98824"/>
              </a:srgbClr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1885381">
            <a:off x="12158125" y="7633280"/>
            <a:ext cx="1776375" cy="501826"/>
          </a:xfrm>
          <a:custGeom>
            <a:avLst/>
            <a:gdLst/>
            <a:ahLst/>
            <a:cxnLst/>
            <a:rect l="l" t="t" r="r" b="b"/>
            <a:pathLst>
              <a:path w="1776375" h="501826">
                <a:moveTo>
                  <a:pt x="0" y="0"/>
                </a:moveTo>
                <a:lnTo>
                  <a:pt x="1776374" y="0"/>
                </a:lnTo>
                <a:lnTo>
                  <a:pt x="1776374" y="501826"/>
                </a:lnTo>
                <a:lnTo>
                  <a:pt x="0" y="5018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3" name="TextBox 23"/>
          <p:cNvSpPr txBox="1"/>
          <p:nvPr/>
        </p:nvSpPr>
        <p:spPr>
          <a:xfrm>
            <a:off x="1836286" y="1195362"/>
            <a:ext cx="8526914" cy="1594088"/>
          </a:xfrm>
          <a:prstGeom prst="rect">
            <a:avLst/>
          </a:prstGeom>
          <a:solidFill>
            <a:srgbClr val="FFC000"/>
          </a:solidFill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3015"/>
              </a:lnSpc>
              <a:spcBef>
                <a:spcPct val="0"/>
              </a:spcBef>
            </a:pPr>
            <a:r>
              <a:rPr lang="en-US" sz="9431" spc="924" dirty="0">
                <a:solidFill>
                  <a:srgbClr val="231F20"/>
                </a:solidFill>
                <a:latin typeface="Oswald Bold"/>
              </a:rPr>
              <a:t> S + P + O + </a:t>
            </a:r>
            <a:r>
              <a:rPr lang="en-US" sz="9431" spc="924" dirty="0">
                <a:solidFill>
                  <a:srgbClr val="C00000"/>
                </a:solidFill>
                <a:latin typeface="Oswald Bold"/>
              </a:rPr>
              <a:t>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48009" y="7065345"/>
            <a:ext cx="2556583" cy="43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8" b="1" spc="265" dirty="0">
                <a:solidFill>
                  <a:srgbClr val="C00000"/>
                </a:solidFill>
                <a:latin typeface="Oswald"/>
              </a:rPr>
              <a:t>BENTUK 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470203" y="4381500"/>
            <a:ext cx="2534389" cy="206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8"/>
              </a:lnSpc>
            </a:pP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Batu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338"/>
              </a:lnSpc>
            </a:pPr>
            <a:endParaRPr lang="en-US" sz="2000" b="1" dirty="0">
              <a:solidFill>
                <a:srgbClr val="100F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338"/>
              </a:lnSpc>
            </a:pP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58648" y="7912457"/>
            <a:ext cx="2556583" cy="43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8" b="1" spc="265" dirty="0">
                <a:solidFill>
                  <a:srgbClr val="C00000"/>
                </a:solidFill>
                <a:latin typeface="Oswald"/>
              </a:rPr>
              <a:t>BENTUK 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169725" y="5219700"/>
            <a:ext cx="3093510" cy="2064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38"/>
              </a:lnSpc>
            </a:pP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Batu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338"/>
              </a:lnSpc>
            </a:pPr>
            <a:endParaRPr lang="en-US" sz="2000" b="1" dirty="0">
              <a:solidFill>
                <a:srgbClr val="100F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338"/>
              </a:lnSpc>
            </a:pP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234228" y="6327076"/>
            <a:ext cx="2556583" cy="437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7"/>
              </a:lnSpc>
              <a:spcBef>
                <a:spcPct val="0"/>
              </a:spcBef>
            </a:pPr>
            <a:r>
              <a:rPr lang="en-US" sz="2708" b="1" spc="265" dirty="0">
                <a:solidFill>
                  <a:srgbClr val="C00000"/>
                </a:solidFill>
                <a:latin typeface="Oswald"/>
              </a:rPr>
              <a:t>BENTUK 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100528" y="3695700"/>
            <a:ext cx="2878199" cy="2064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38"/>
              </a:lnSpc>
            </a:pP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ts val="2338"/>
              </a:lnSpc>
            </a:pPr>
            <a:endParaRPr lang="en-US" sz="2000" b="1" dirty="0">
              <a:solidFill>
                <a:srgbClr val="100F0D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ts val="2338"/>
              </a:lnSpc>
            </a:pP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Kemacetan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pada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hari</a:t>
            </a:r>
            <a:r>
              <a:rPr lang="en-US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 Jalan </a:t>
            </a:r>
            <a:r>
              <a:rPr lang="en-US" sz="20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Buah</a:t>
            </a:r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Batu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selalu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 err="1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terjadi</a:t>
            </a:r>
            <a:r>
              <a:rPr lang="en-US" sz="2000" b="1" dirty="0">
                <a:solidFill>
                  <a:srgbClr val="100F0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30" name="Freeform 30"/>
          <p:cNvSpPr/>
          <p:nvPr/>
        </p:nvSpPr>
        <p:spPr>
          <a:xfrm rot="-8970905" flipH="1">
            <a:off x="7337391" y="7248542"/>
            <a:ext cx="1776375" cy="501826"/>
          </a:xfrm>
          <a:custGeom>
            <a:avLst/>
            <a:gdLst/>
            <a:ahLst/>
            <a:cxnLst/>
            <a:rect l="l" t="t" r="r" b="b"/>
            <a:pathLst>
              <a:path w="1776375" h="501826">
                <a:moveTo>
                  <a:pt x="1776375" y="0"/>
                </a:moveTo>
                <a:lnTo>
                  <a:pt x="0" y="0"/>
                </a:lnTo>
                <a:lnTo>
                  <a:pt x="0" y="501826"/>
                </a:lnTo>
                <a:lnTo>
                  <a:pt x="1776375" y="501826"/>
                </a:lnTo>
                <a:lnTo>
                  <a:pt x="1776375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31" name="TextBox 31"/>
          <p:cNvSpPr txBox="1"/>
          <p:nvPr/>
        </p:nvSpPr>
        <p:spPr>
          <a:xfrm>
            <a:off x="1836286" y="2933700"/>
            <a:ext cx="8526914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60"/>
              </a:lnSpc>
            </a:pPr>
            <a:r>
              <a:rPr lang="en-US" sz="2600" b="1" dirty="0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KETERANGAN = paling </a:t>
            </a:r>
            <a:r>
              <a:rPr lang="en-US" sz="2600" b="1" dirty="0" err="1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fleksibel</a:t>
            </a:r>
            <a:r>
              <a:rPr lang="en-US" sz="2600" b="1" dirty="0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r>
              <a:rPr lang="en-US" sz="2600" b="1" dirty="0" err="1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bisa</a:t>
            </a:r>
            <a:r>
              <a:rPr lang="en-US" sz="2600" b="1" dirty="0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highlight>
                  <a:srgbClr val="8000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pindah-pindah</a:t>
            </a:r>
            <a:endParaRPr lang="en-US" sz="2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 rot="887923">
            <a:off x="-5959915" y="3960605"/>
            <a:ext cx="13977230" cy="14342307"/>
          </a:xfrm>
          <a:custGeom>
            <a:avLst/>
            <a:gdLst/>
            <a:ahLst/>
            <a:cxnLst/>
            <a:rect l="l" t="t" r="r" b="b"/>
            <a:pathLst>
              <a:path w="13977230" h="14342307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770706" y="-3368517"/>
            <a:ext cx="4959890" cy="495989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solidFill>
              <a:srgbClr val="F2F4F5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144000" y="1278539"/>
            <a:ext cx="13188954" cy="13188954"/>
            <a:chOff x="0" y="0"/>
            <a:chExt cx="812800" cy="812800"/>
          </a:xfrm>
          <a:solidFill>
            <a:srgbClr val="FFC000"/>
          </a:solidFill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</a:path>
              </a:pathLst>
            </a:custGeom>
            <a:grpFill/>
          </p:spPr>
          <p:txBody>
            <a:bodyPr/>
            <a:lstStyle/>
            <a:p>
              <a:endParaRPr lang="en-ID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77139"/>
              <a:ext cx="585936" cy="27514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6639105" y="-5979128"/>
            <a:ext cx="12110389" cy="12426705"/>
          </a:xfrm>
          <a:custGeom>
            <a:avLst/>
            <a:gdLst/>
            <a:ahLst/>
            <a:cxnLst/>
            <a:rect l="l" t="t" r="r" b="b"/>
            <a:pathLst>
              <a:path w="12110389" h="12426705">
                <a:moveTo>
                  <a:pt x="0" y="0"/>
                </a:moveTo>
                <a:lnTo>
                  <a:pt x="12110389" y="0"/>
                </a:lnTo>
                <a:lnTo>
                  <a:pt x="12110389" y="12426706"/>
                </a:lnTo>
                <a:lnTo>
                  <a:pt x="0" y="124267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9" name="Freeform 9"/>
          <p:cNvSpPr/>
          <p:nvPr/>
        </p:nvSpPr>
        <p:spPr>
          <a:xfrm rot="-3986589">
            <a:off x="5084777" y="6259532"/>
            <a:ext cx="9894000" cy="10152425"/>
          </a:xfrm>
          <a:custGeom>
            <a:avLst/>
            <a:gdLst/>
            <a:ahLst/>
            <a:cxnLst/>
            <a:rect l="l" t="t" r="r" b="b"/>
            <a:pathLst>
              <a:path w="9894000" h="10152425">
                <a:moveTo>
                  <a:pt x="0" y="0"/>
                </a:moveTo>
                <a:lnTo>
                  <a:pt x="9894000" y="0"/>
                </a:lnTo>
                <a:lnTo>
                  <a:pt x="9894000" y="10152425"/>
                </a:lnTo>
                <a:lnTo>
                  <a:pt x="0" y="101524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0" name="TextBox 10"/>
          <p:cNvSpPr txBox="1"/>
          <p:nvPr/>
        </p:nvSpPr>
        <p:spPr>
          <a:xfrm>
            <a:off x="2720102" y="3376069"/>
            <a:ext cx="7942168" cy="1396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349"/>
              </a:lnSpc>
            </a:pPr>
            <a:r>
              <a:rPr lang="en-US" sz="8224" spc="806" dirty="0">
                <a:solidFill>
                  <a:srgbClr val="FFFFFF"/>
                </a:solidFill>
                <a:latin typeface="Oswald Bold"/>
              </a:rPr>
              <a:t>BAGAIMANA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92641" y="5095875"/>
            <a:ext cx="5741759" cy="531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sz="4000" b="1" spc="283" dirty="0">
                <a:solidFill>
                  <a:srgbClr val="F5FFF5"/>
                </a:solidFill>
                <a:latin typeface="DM Sans"/>
              </a:rPr>
              <a:t>CARA MENENTUKAN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49972" y="3596979"/>
            <a:ext cx="7202160" cy="5020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0717"/>
              </a:lnSpc>
              <a:spcBef>
                <a:spcPct val="0"/>
              </a:spcBef>
            </a:pPr>
            <a:r>
              <a:rPr lang="en-US" sz="12500" dirty="0">
                <a:solidFill>
                  <a:srgbClr val="C00000"/>
                </a:solidFill>
                <a:latin typeface="Oswald Bold"/>
              </a:rPr>
              <a:t>INTI KALIMAT ?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3086100"/>
            <a:chOff x="0" y="0"/>
            <a:chExt cx="481659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812800"/>
            </a:xfrm>
            <a:custGeom>
              <a:avLst/>
              <a:gdLst/>
              <a:ahLst/>
              <a:cxnLst/>
              <a:rect l="l" t="t" r="r" b="b"/>
              <a:pathLst>
                <a:path w="4816592" h="812800">
                  <a:moveTo>
                    <a:pt x="0" y="0"/>
                  </a:moveTo>
                  <a:lnTo>
                    <a:pt x="4816592" y="0"/>
                  </a:lnTo>
                  <a:lnTo>
                    <a:pt x="4816592" y="812800"/>
                  </a:lnTo>
                  <a:lnTo>
                    <a:pt x="0" y="812800"/>
                  </a:lnTo>
                  <a:lnTo>
                    <a:pt x="0" y="0"/>
                  </a:lnTo>
                </a:path>
              </a:pathLst>
            </a:custGeom>
            <a:solidFill>
              <a:srgbClr val="1A1A1A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451022" y="-4729397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-2851369" y="-3442596"/>
            <a:ext cx="6709932" cy="6885191"/>
          </a:xfrm>
          <a:custGeom>
            <a:avLst/>
            <a:gdLst/>
            <a:ahLst/>
            <a:cxnLst/>
            <a:rect l="l" t="t" r="r" b="b"/>
            <a:pathLst>
              <a:path w="6709932" h="6885191">
                <a:moveTo>
                  <a:pt x="0" y="0"/>
                </a:moveTo>
                <a:lnTo>
                  <a:pt x="6709932" y="0"/>
                </a:lnTo>
                <a:lnTo>
                  <a:pt x="6709932" y="6885192"/>
                </a:lnTo>
                <a:lnTo>
                  <a:pt x="0" y="6885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TextBox 12"/>
          <p:cNvSpPr txBox="1"/>
          <p:nvPr/>
        </p:nvSpPr>
        <p:spPr>
          <a:xfrm>
            <a:off x="3690980" y="1232286"/>
            <a:ext cx="10906040" cy="1349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82"/>
              </a:lnSpc>
            </a:pPr>
            <a:r>
              <a:rPr lang="en-US" sz="8030" spc="786">
                <a:solidFill>
                  <a:srgbClr val="FFFFFF"/>
                </a:solidFill>
                <a:latin typeface="Oswald Bold"/>
              </a:rPr>
              <a:t>CONTOH SOAL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893475" y="3510391"/>
            <a:ext cx="9034431" cy="2808103"/>
            <a:chOff x="0" y="0"/>
            <a:chExt cx="1744696" cy="5422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136323" y="4020510"/>
            <a:ext cx="8548733" cy="1732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Pada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hari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Minggu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kuturut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ayah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ke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kota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Naik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delman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istimewa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di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muka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di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samping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Pak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Kusir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yang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sedang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bekerja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mengendarai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supaya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baik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jalannya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2179166" y="6572062"/>
            <a:ext cx="9034431" cy="2808103"/>
            <a:chOff x="0" y="0"/>
            <a:chExt cx="1744696" cy="5422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44696" cy="542290"/>
            </a:xfrm>
            <a:custGeom>
              <a:avLst/>
              <a:gdLst/>
              <a:ahLst/>
              <a:cxnLst/>
              <a:rect l="l" t="t" r="r" b="b"/>
              <a:pathLst>
                <a:path w="1744696" h="542290">
                  <a:moveTo>
                    <a:pt x="0" y="0"/>
                  </a:moveTo>
                  <a:lnTo>
                    <a:pt x="1744696" y="0"/>
                  </a:lnTo>
                  <a:lnTo>
                    <a:pt x="1744696" y="542290"/>
                  </a:lnTo>
                  <a:lnTo>
                    <a:pt x="0" y="54229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w="38100">
              <a:solidFill>
                <a:srgbClr val="000000"/>
              </a:solidFill>
            </a:ln>
          </p:spPr>
          <p:txBody>
            <a:bodyPr/>
            <a:lstStyle/>
            <a:p>
              <a:endParaRPr lang="en-ID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8" name="TextBox 16">
            <a:extLst>
              <a:ext uri="{FF2B5EF4-FFF2-40B4-BE49-F238E27FC236}">
                <a16:creationId xmlns:a16="http://schemas.microsoft.com/office/drawing/2014/main" id="{DA785FBA-1FA0-33D4-CAED-1CA0978E1DE8}"/>
              </a:ext>
            </a:extLst>
          </p:cNvPr>
          <p:cNvSpPr txBox="1"/>
          <p:nvPr/>
        </p:nvSpPr>
        <p:spPr>
          <a:xfrm>
            <a:off x="7148467" y="4020510"/>
            <a:ext cx="8548733" cy="1732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Pada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hari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Minggu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kuturut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ayah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ke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kota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Naik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delman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istimewa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muka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samping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 Pak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Kusir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yang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sedang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bekerja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mengendarai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supaya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baik</a:t>
            </a:r>
            <a:r>
              <a:rPr lang="en-US" sz="2800" b="1" spc="194" dirty="0">
                <a:solidFill>
                  <a:srgbClr val="0070C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70C0"/>
                </a:solidFill>
                <a:latin typeface="DM Sans"/>
              </a:rPr>
              <a:t>jalannya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sp>
        <p:nvSpPr>
          <p:cNvPr id="9" name="TextBox 16">
            <a:extLst>
              <a:ext uri="{FF2B5EF4-FFF2-40B4-BE49-F238E27FC236}">
                <a16:creationId xmlns:a16="http://schemas.microsoft.com/office/drawing/2014/main" id="{909415C6-5215-9CE0-FAE2-8F5F5BDCFD75}"/>
              </a:ext>
            </a:extLst>
          </p:cNvPr>
          <p:cNvSpPr txBox="1"/>
          <p:nvPr/>
        </p:nvSpPr>
        <p:spPr>
          <a:xfrm>
            <a:off x="2422014" y="7152652"/>
            <a:ext cx="8548733" cy="1732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Pada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hari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Minggu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kuturut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ayah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ke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kota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Naik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delman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istimewa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muka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 err="1">
                <a:solidFill>
                  <a:srgbClr val="231F2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samping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Pak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Kusir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rgbClr val="00B050"/>
                </a:solidFill>
                <a:latin typeface="DM Sans"/>
              </a:rPr>
              <a:t>yang </a:t>
            </a:r>
            <a:r>
              <a:rPr lang="en-US" sz="2800" b="1" spc="194" dirty="0" err="1">
                <a:solidFill>
                  <a:srgbClr val="00B050"/>
                </a:solidFill>
                <a:latin typeface="DM Sans"/>
              </a:rPr>
              <a:t>sedang</a:t>
            </a:r>
            <a:r>
              <a:rPr lang="en-US" sz="2800" b="1" spc="194" dirty="0">
                <a:solidFill>
                  <a:srgbClr val="00B05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B050"/>
                </a:solidFill>
                <a:latin typeface="DM Sans"/>
              </a:rPr>
              <a:t>bekerja</a:t>
            </a:r>
            <a:r>
              <a:rPr lang="en-US" sz="2800" b="1" spc="194" dirty="0">
                <a:solidFill>
                  <a:srgbClr val="00B05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B050"/>
                </a:solidFill>
                <a:latin typeface="DM Sans"/>
              </a:rPr>
              <a:t>mengendarai</a:t>
            </a:r>
            <a:r>
              <a:rPr lang="en-US" sz="2800" b="1" spc="194" dirty="0">
                <a:solidFill>
                  <a:srgbClr val="00B05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00B050"/>
                </a:solidFill>
                <a:latin typeface="DM Sans"/>
              </a:rPr>
              <a:t>kuda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supaya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baik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jalannya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sp>
        <p:nvSpPr>
          <p:cNvPr id="10" name="TextBox 16">
            <a:extLst>
              <a:ext uri="{FF2B5EF4-FFF2-40B4-BE49-F238E27FC236}">
                <a16:creationId xmlns:a16="http://schemas.microsoft.com/office/drawing/2014/main" id="{EA416B34-BFF6-CA4B-9A53-EA36C5062D8A}"/>
              </a:ext>
            </a:extLst>
          </p:cNvPr>
          <p:cNvSpPr txBox="1"/>
          <p:nvPr/>
        </p:nvSpPr>
        <p:spPr>
          <a:xfrm>
            <a:off x="2422014" y="7142081"/>
            <a:ext cx="8548733" cy="1732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Pada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hari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Minggu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C00000"/>
                </a:solidFill>
                <a:latin typeface="DM Sans"/>
              </a:rPr>
              <a:t>kuturut</a:t>
            </a:r>
            <a:r>
              <a:rPr lang="en-US" sz="2800" b="1" spc="194" dirty="0">
                <a:solidFill>
                  <a:srgbClr val="C00000"/>
                </a:solidFill>
                <a:latin typeface="DM Sans"/>
              </a:rPr>
              <a:t> ayah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ke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kota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>
                <a:solidFill>
                  <a:srgbClr val="C00000"/>
                </a:solidFill>
                <a:latin typeface="DM Sans"/>
              </a:rPr>
              <a:t>Naik </a:t>
            </a:r>
            <a:r>
              <a:rPr lang="en-US" sz="2800" b="1" spc="194" dirty="0" err="1">
                <a:solidFill>
                  <a:srgbClr val="C00000"/>
                </a:solidFill>
                <a:latin typeface="DM Sans"/>
              </a:rPr>
              <a:t>delman</a:t>
            </a:r>
            <a:r>
              <a:rPr lang="en-US" sz="2800" b="1" spc="194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C00000"/>
                </a:solidFill>
                <a:latin typeface="DM Sans"/>
              </a:rPr>
              <a:t>istimewa</a:t>
            </a:r>
            <a:r>
              <a:rPr lang="en-US" sz="2800" b="1" spc="194" dirty="0">
                <a:solidFill>
                  <a:srgbClr val="C0000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rgbClr val="C0000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muka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  <a:p>
            <a:pPr marL="556784" lvl="1" indent="-342900">
              <a:lnSpc>
                <a:spcPts val="2734"/>
              </a:lnSpc>
              <a:buFont typeface="Arial" panose="020B0604020202020204" pitchFamily="34" charset="0"/>
              <a:buChar char="•"/>
            </a:pPr>
            <a:r>
              <a:rPr lang="en-US" sz="2800" b="1" spc="194" dirty="0" err="1">
                <a:solidFill>
                  <a:srgbClr val="C00000"/>
                </a:solidFill>
                <a:latin typeface="DM Sans"/>
              </a:rPr>
              <a:t>Kududuk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di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samping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Pak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Kusir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yang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sedang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bekerja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mengendarai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kuda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supaya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baik</a:t>
            </a:r>
            <a:r>
              <a:rPr lang="en-US" sz="2800" b="1" spc="194" dirty="0">
                <a:solidFill>
                  <a:schemeClr val="bg1">
                    <a:lumMod val="65000"/>
                  </a:schemeClr>
                </a:solidFill>
                <a:latin typeface="DM Sans"/>
              </a:rPr>
              <a:t> </a:t>
            </a:r>
            <a:r>
              <a:rPr lang="en-US" sz="2800" b="1" spc="194" dirty="0" err="1">
                <a:solidFill>
                  <a:schemeClr val="bg1">
                    <a:lumMod val="65000"/>
                  </a:schemeClr>
                </a:solidFill>
                <a:latin typeface="DM Sans"/>
              </a:rPr>
              <a:t>jalannya</a:t>
            </a:r>
            <a:r>
              <a:rPr lang="en-US" sz="2800" b="1" spc="194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DD4B758-F121-0470-C73E-2BE5C7F5C914}"/>
              </a:ext>
            </a:extLst>
          </p:cNvPr>
          <p:cNvGrpSpPr/>
          <p:nvPr/>
        </p:nvGrpSpPr>
        <p:grpSpPr>
          <a:xfrm>
            <a:off x="2179166" y="3510391"/>
            <a:ext cx="4517214" cy="2875898"/>
            <a:chOff x="2179166" y="3510391"/>
            <a:chExt cx="4517214" cy="28758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0822DA7-65A8-CA2E-BDE1-A3AA330228DF}"/>
                </a:ext>
              </a:extLst>
            </p:cNvPr>
            <p:cNvSpPr/>
            <p:nvPr/>
          </p:nvSpPr>
          <p:spPr>
            <a:xfrm>
              <a:off x="2179166" y="3510391"/>
              <a:ext cx="4517214" cy="2808102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000" b="1" dirty="0" err="1">
                  <a:solidFill>
                    <a:srgbClr val="C00000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Hilangkan</a:t>
              </a:r>
              <a:r>
                <a:rPr lang="en-US" sz="4000" b="1" dirty="0">
                  <a:solidFill>
                    <a:srgbClr val="C00000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 </a:t>
              </a:r>
            </a:p>
            <a:p>
              <a:pPr algn="ctr"/>
              <a:r>
                <a:rPr lang="en-US" sz="4000" b="1" dirty="0" err="1">
                  <a:solidFill>
                    <a:srgbClr val="C00000"/>
                  </a:solidFill>
                  <a:latin typeface="Arial Narrow" panose="020B0606020202030204" pitchFamily="34" charset="0"/>
                  <a:cs typeface="Arial" panose="020B0604020202020204" pitchFamily="34" charset="0"/>
                </a:rPr>
                <a:t>keterangan</a:t>
              </a:r>
              <a:endPara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28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  <a:p>
              <a:pPr algn="ctr"/>
              <a:endParaRPr lang="en-ID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 25" descr="Suburban scene">
              <a:extLst>
                <a:ext uri="{FF2B5EF4-FFF2-40B4-BE49-F238E27FC236}">
                  <a16:creationId xmlns:a16="http://schemas.microsoft.com/office/drawing/2014/main" id="{6F7FBA5B-8603-FD05-0437-351603A85C5B}"/>
                </a:ext>
              </a:extLst>
            </p:cNvPr>
            <p:cNvSpPr/>
            <p:nvPr/>
          </p:nvSpPr>
          <p:spPr>
            <a:xfrm>
              <a:off x="2283372" y="5187589"/>
              <a:ext cx="1029762" cy="1198700"/>
            </a:xfrm>
            <a:custGeom>
              <a:avLst/>
              <a:gdLst/>
              <a:ahLst/>
              <a:cxnLst/>
              <a:rect l="l" t="t" r="r" b="b"/>
              <a:pathLst>
                <a:path w="1211702" h="1322294">
                  <a:moveTo>
                    <a:pt x="0" y="0"/>
                  </a:moveTo>
                  <a:lnTo>
                    <a:pt x="1211702" y="0"/>
                  </a:lnTo>
                  <a:lnTo>
                    <a:pt x="1211702" y="1322294"/>
                  </a:lnTo>
                  <a:lnTo>
                    <a:pt x="0" y="13222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8" name="Freeform 26">
              <a:extLst>
                <a:ext uri="{FF2B5EF4-FFF2-40B4-BE49-F238E27FC236}">
                  <a16:creationId xmlns:a16="http://schemas.microsoft.com/office/drawing/2014/main" id="{F84EA308-151C-5517-CA58-04BE84AFCB30}"/>
                </a:ext>
              </a:extLst>
            </p:cNvPr>
            <p:cNvSpPr/>
            <p:nvPr/>
          </p:nvSpPr>
          <p:spPr>
            <a:xfrm>
              <a:off x="4010915" y="5253627"/>
              <a:ext cx="853715" cy="992789"/>
            </a:xfrm>
            <a:custGeom>
              <a:avLst/>
              <a:gdLst/>
              <a:ahLst/>
              <a:cxnLst/>
              <a:rect l="l" t="t" r="r" b="b"/>
              <a:pathLst>
                <a:path w="1160684" h="1393835">
                  <a:moveTo>
                    <a:pt x="0" y="0"/>
                  </a:moveTo>
                  <a:lnTo>
                    <a:pt x="1160684" y="0"/>
                  </a:lnTo>
                  <a:lnTo>
                    <a:pt x="1160684" y="1393835"/>
                  </a:lnTo>
                  <a:lnTo>
                    <a:pt x="0" y="13938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  <p:sp>
          <p:nvSpPr>
            <p:cNvPr id="19" name="Freeform 27">
              <a:extLst>
                <a:ext uri="{FF2B5EF4-FFF2-40B4-BE49-F238E27FC236}">
                  <a16:creationId xmlns:a16="http://schemas.microsoft.com/office/drawing/2014/main" id="{A926E0D0-F2F6-EF0C-7591-FC53F7996E61}"/>
                </a:ext>
              </a:extLst>
            </p:cNvPr>
            <p:cNvSpPr/>
            <p:nvPr/>
          </p:nvSpPr>
          <p:spPr>
            <a:xfrm>
              <a:off x="5562411" y="5290544"/>
              <a:ext cx="937801" cy="992789"/>
            </a:xfrm>
            <a:custGeom>
              <a:avLst/>
              <a:gdLst/>
              <a:ahLst/>
              <a:cxnLst/>
              <a:rect l="l" t="t" r="r" b="b"/>
              <a:pathLst>
                <a:path w="1353071" h="1353071">
                  <a:moveTo>
                    <a:pt x="0" y="0"/>
                  </a:moveTo>
                  <a:lnTo>
                    <a:pt x="1353071" y="0"/>
                  </a:lnTo>
                  <a:lnTo>
                    <a:pt x="1353071" y="1353071"/>
                  </a:lnTo>
                  <a:lnTo>
                    <a:pt x="0" y="1353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D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7A75DB09-7160-227B-F893-2DB59FEC1FD5}"/>
              </a:ext>
            </a:extLst>
          </p:cNvPr>
          <p:cNvSpPr/>
          <p:nvPr/>
        </p:nvSpPr>
        <p:spPr>
          <a:xfrm>
            <a:off x="11410689" y="6580998"/>
            <a:ext cx="4517214" cy="280810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Hilangkan</a:t>
            </a:r>
            <a:r>
              <a: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sz="4000" b="1" i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yang </a:t>
            </a:r>
            <a:r>
              <a: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(</a:t>
            </a:r>
            <a:r>
              <a:rPr lang="en-US" sz="4000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perluasan</a:t>
            </a:r>
            <a:r>
              <a: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subjek</a:t>
            </a:r>
            <a:r>
              <a: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 dan </a:t>
            </a:r>
            <a:r>
              <a:rPr lang="en-US" sz="4000" b="1" dirty="0" err="1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objek</a:t>
            </a:r>
            <a:r>
              <a:rPr lang="en-US" sz="4000" b="1" dirty="0">
                <a:solidFill>
                  <a:srgbClr val="C00000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)</a:t>
            </a:r>
            <a:endParaRPr lang="en-ID" sz="4000" b="1" dirty="0">
              <a:solidFill>
                <a:srgbClr val="C00000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3" name="Group 3"/>
          <p:cNvGrpSpPr/>
          <p:nvPr/>
        </p:nvGrpSpPr>
        <p:grpSpPr>
          <a:xfrm>
            <a:off x="13662994" y="337474"/>
            <a:ext cx="4296549" cy="9570246"/>
            <a:chOff x="0" y="0"/>
            <a:chExt cx="1131601" cy="252055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31601" cy="2520559"/>
            </a:xfrm>
            <a:custGeom>
              <a:avLst/>
              <a:gdLst/>
              <a:ahLst/>
              <a:cxnLst/>
              <a:rect l="l" t="t" r="r" b="b"/>
              <a:pathLst>
                <a:path w="1131601" h="2520559">
                  <a:moveTo>
                    <a:pt x="0" y="0"/>
                  </a:moveTo>
                  <a:lnTo>
                    <a:pt x="1131601" y="0"/>
                  </a:lnTo>
                  <a:lnTo>
                    <a:pt x="1131601" y="2520559"/>
                  </a:lnTo>
                  <a:lnTo>
                    <a:pt x="0" y="2520559"/>
                  </a:lnTo>
                  <a:lnTo>
                    <a:pt x="0" y="0"/>
                  </a:lnTo>
                </a:path>
              </a:pathLst>
            </a:custGeom>
            <a:solidFill>
              <a:srgbClr val="CCCCCC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42191" y="4828880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7" name="Freeform 7"/>
          <p:cNvSpPr/>
          <p:nvPr/>
        </p:nvSpPr>
        <p:spPr>
          <a:xfrm>
            <a:off x="10758785" y="1049603"/>
            <a:ext cx="6176060" cy="8208697"/>
          </a:xfrm>
          <a:custGeom>
            <a:avLst/>
            <a:gdLst/>
            <a:ahLst/>
            <a:cxnLst/>
            <a:rect l="l" t="t" r="r" b="b"/>
            <a:pathLst>
              <a:path w="6176060" h="8208697">
                <a:moveTo>
                  <a:pt x="0" y="0"/>
                </a:moveTo>
                <a:lnTo>
                  <a:pt x="6176060" y="0"/>
                </a:lnTo>
                <a:lnTo>
                  <a:pt x="6176060" y="8208697"/>
                </a:lnTo>
                <a:lnTo>
                  <a:pt x="0" y="82086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9746" r="-49746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8" name="Group 8"/>
          <p:cNvGrpSpPr/>
          <p:nvPr/>
        </p:nvGrpSpPr>
        <p:grpSpPr>
          <a:xfrm>
            <a:off x="1538905" y="3354205"/>
            <a:ext cx="10585184" cy="1948998"/>
            <a:chOff x="0" y="0"/>
            <a:chExt cx="3682024" cy="74674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lnTo>
                    <a:pt x="0" y="0"/>
                  </a:lnTo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844438" y="3704985"/>
            <a:ext cx="1156649" cy="1173721"/>
          </a:xfrm>
          <a:custGeom>
            <a:avLst/>
            <a:gdLst/>
            <a:ahLst/>
            <a:cxnLst/>
            <a:rect l="l" t="t" r="r" b="b"/>
            <a:pathLst>
              <a:path w="1156649" h="1173721">
                <a:moveTo>
                  <a:pt x="0" y="0"/>
                </a:moveTo>
                <a:lnTo>
                  <a:pt x="1156649" y="0"/>
                </a:lnTo>
                <a:lnTo>
                  <a:pt x="1156649" y="1173721"/>
                </a:lnTo>
                <a:lnTo>
                  <a:pt x="0" y="11737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2" name="Freeform 12"/>
          <p:cNvSpPr/>
          <p:nvPr/>
        </p:nvSpPr>
        <p:spPr>
          <a:xfrm>
            <a:off x="2142191" y="7210022"/>
            <a:ext cx="9752965" cy="1032847"/>
          </a:xfrm>
          <a:custGeom>
            <a:avLst/>
            <a:gdLst/>
            <a:ahLst/>
            <a:cxnLst/>
            <a:rect l="l" t="t" r="r" b="b"/>
            <a:pathLst>
              <a:path w="9752965" h="1032847">
                <a:moveTo>
                  <a:pt x="0" y="0"/>
                </a:moveTo>
                <a:lnTo>
                  <a:pt x="9752965" y="0"/>
                </a:lnTo>
                <a:lnTo>
                  <a:pt x="9752965" y="1032847"/>
                </a:lnTo>
                <a:lnTo>
                  <a:pt x="0" y="10328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6495"/>
            </a:stretch>
          </a:blipFill>
        </p:spPr>
        <p:txBody>
          <a:bodyPr/>
          <a:lstStyle/>
          <a:p>
            <a:endParaRPr lang="en-ID"/>
          </a:p>
        </p:txBody>
      </p:sp>
      <p:grpSp>
        <p:nvGrpSpPr>
          <p:cNvPr id="13" name="Group 13"/>
          <p:cNvGrpSpPr/>
          <p:nvPr/>
        </p:nvGrpSpPr>
        <p:grpSpPr>
          <a:xfrm>
            <a:off x="1538904" y="5777447"/>
            <a:ext cx="10585183" cy="2465422"/>
            <a:chOff x="0" y="0"/>
            <a:chExt cx="3682024" cy="74674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682024" cy="746746"/>
            </a:xfrm>
            <a:custGeom>
              <a:avLst/>
              <a:gdLst/>
              <a:ahLst/>
              <a:cxnLst/>
              <a:rect l="l" t="t" r="r" b="b"/>
              <a:pathLst>
                <a:path w="3682024" h="746746">
                  <a:moveTo>
                    <a:pt x="0" y="0"/>
                  </a:moveTo>
                  <a:lnTo>
                    <a:pt x="3682024" y="0"/>
                  </a:lnTo>
                  <a:lnTo>
                    <a:pt x="3682024" y="746746"/>
                  </a:lnTo>
                  <a:lnTo>
                    <a:pt x="0" y="746746"/>
                  </a:lnTo>
                  <a:lnTo>
                    <a:pt x="0" y="0"/>
                  </a:lnTo>
                </a:path>
              </a:pathLst>
            </a:custGeom>
            <a:solidFill>
              <a:srgbClr val="EFEFEF"/>
            </a:solidFill>
          </p:spPr>
          <p:txBody>
            <a:bodyPr/>
            <a:lstStyle/>
            <a:p>
              <a:endParaRPr lang="en-ID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812800" cy="831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752600" y="6162574"/>
            <a:ext cx="1159455" cy="1178744"/>
          </a:xfrm>
          <a:custGeom>
            <a:avLst/>
            <a:gdLst/>
            <a:ahLst/>
            <a:cxnLst/>
            <a:rect l="l" t="t" r="r" b="b"/>
            <a:pathLst>
              <a:path w="1159455" h="1178744">
                <a:moveTo>
                  <a:pt x="0" y="0"/>
                </a:moveTo>
                <a:lnTo>
                  <a:pt x="1159455" y="0"/>
                </a:lnTo>
                <a:lnTo>
                  <a:pt x="1159455" y="1178744"/>
                </a:lnTo>
                <a:lnTo>
                  <a:pt x="0" y="11787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17" name="TextBox 17"/>
          <p:cNvSpPr txBox="1"/>
          <p:nvPr/>
        </p:nvSpPr>
        <p:spPr>
          <a:xfrm>
            <a:off x="1676400" y="926705"/>
            <a:ext cx="8616594" cy="1341426"/>
          </a:xfrm>
          <a:prstGeom prst="rect">
            <a:avLst/>
          </a:prstGeom>
          <a:solidFill>
            <a:srgbClr val="FFC000"/>
          </a:solidFill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1015"/>
              </a:lnSpc>
            </a:pPr>
            <a:r>
              <a:rPr lang="en-US" sz="7982" spc="782" dirty="0">
                <a:solidFill>
                  <a:srgbClr val="C00000"/>
                </a:solidFill>
                <a:latin typeface="Oswald Bold"/>
              </a:rPr>
              <a:t>MARI BERLATIH!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98840" y="3543300"/>
            <a:ext cx="8453395" cy="157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Setelah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penemuan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lukisan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tangan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tertua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di dunia yang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berusia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sekitar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40.000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tahun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,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sejumlah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peneliti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gabungan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melacak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jejak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manusia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purba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yang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berkaitan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dengan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lukisan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tersebut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  <p:sp>
        <p:nvSpPr>
          <p:cNvPr id="20" name="Freeform 20"/>
          <p:cNvSpPr/>
          <p:nvPr/>
        </p:nvSpPr>
        <p:spPr>
          <a:xfrm>
            <a:off x="-2779578" y="7341318"/>
            <a:ext cx="7616557" cy="7815497"/>
          </a:xfrm>
          <a:custGeom>
            <a:avLst/>
            <a:gdLst/>
            <a:ahLst/>
            <a:cxnLst/>
            <a:rect l="l" t="t" r="r" b="b"/>
            <a:pathLst>
              <a:path w="7616557" h="7815497">
                <a:moveTo>
                  <a:pt x="0" y="0"/>
                </a:moveTo>
                <a:lnTo>
                  <a:pt x="7616556" y="0"/>
                </a:lnTo>
                <a:lnTo>
                  <a:pt x="7616556" y="7815497"/>
                </a:lnTo>
                <a:lnTo>
                  <a:pt x="0" y="78154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D"/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783FF9EC-FE88-2F3E-1E2F-C83C9DDE46FA}"/>
              </a:ext>
            </a:extLst>
          </p:cNvPr>
          <p:cNvSpPr txBox="1"/>
          <p:nvPr/>
        </p:nvSpPr>
        <p:spPr>
          <a:xfrm>
            <a:off x="3276600" y="5981700"/>
            <a:ext cx="8618556" cy="1969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Sesudah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tertutup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sebongkah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batu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selama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22.000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tahun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, pada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Desember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1994,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terungkaplah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keberadaan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gua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itu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ketika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tiga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orang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penjelajah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gua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merayap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di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celah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sempit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sebuah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tebing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,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lalu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turun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ke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mulut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gua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 yang </a:t>
            </a:r>
            <a:r>
              <a:rPr lang="en-US" sz="2210" b="1" spc="216" dirty="0" err="1">
                <a:solidFill>
                  <a:srgbClr val="231F20"/>
                </a:solidFill>
                <a:latin typeface="DM Sans"/>
              </a:rPr>
              <a:t>gelap</a:t>
            </a:r>
            <a:r>
              <a:rPr lang="en-US" sz="2210" b="1" spc="216" dirty="0">
                <a:solidFill>
                  <a:srgbClr val="231F20"/>
                </a:solidFill>
                <a:latin typeface="DM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619</Words>
  <Application>Microsoft Office PowerPoint</Application>
  <PresentationFormat>Custom</PresentationFormat>
  <Paragraphs>124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DM Sans</vt:lpstr>
      <vt:lpstr>DM Sans Bold</vt:lpstr>
      <vt:lpstr>Oswald</vt:lpstr>
      <vt:lpstr>Arial</vt:lpstr>
      <vt:lpstr>Calibri</vt:lpstr>
      <vt:lpstr>Arial Narrow</vt:lpstr>
      <vt:lpstr>DM Sans Italics</vt:lpstr>
      <vt:lpstr>Oswald Bold Italics</vt:lpstr>
      <vt:lpstr>Oswald Bold</vt:lpstr>
      <vt:lpstr>Montserrat Classic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BASIC. B.INDONESIA</dc:title>
  <dc:creator>MMC BDG 7</dc:creator>
  <cp:lastModifiedBy>Puspita Nuari</cp:lastModifiedBy>
  <cp:revision>22</cp:revision>
  <dcterms:created xsi:type="dcterms:W3CDTF">2006-08-16T00:00:00Z</dcterms:created>
  <dcterms:modified xsi:type="dcterms:W3CDTF">2023-09-27T05:45:58Z</dcterms:modified>
  <dc:identifier>DAFtjIW_f0Y</dc:identifier>
</cp:coreProperties>
</file>