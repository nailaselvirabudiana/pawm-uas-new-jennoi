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312" r:id="rId6"/>
    <p:sldId id="313" r:id="rId7"/>
    <p:sldId id="314" r:id="rId8"/>
    <p:sldId id="315" r:id="rId9"/>
    <p:sldId id="321" r:id="rId10"/>
    <p:sldId id="328" r:id="rId11"/>
    <p:sldId id="330" r:id="rId12"/>
    <p:sldId id="316" r:id="rId13"/>
    <p:sldId id="331" r:id="rId14"/>
    <p:sldId id="332" r:id="rId15"/>
    <p:sldId id="317" r:id="rId16"/>
    <p:sldId id="333" r:id="rId17"/>
  </p:sldIdLst>
  <p:sldSz cx="12192000" cy="6858000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Jennifer Sandy" userId="S::19623097@mahasiswa.itb.ac.id::8cc3137f-14e7-40f4-a9ec-404174410a45" providerId="AD" clId="Web-{435A3F15-DA66-63B5-CC50-952DB1EC4104}"/>
    <pc:docChg chg="mod">
      <pc:chgData name="Gabriela Jennifer Sandy" userId="S::19623097@mahasiswa.itb.ac.id::8cc3137f-14e7-40f4-a9ec-404174410a45" providerId="AD" clId="Web-{435A3F15-DA66-63B5-CC50-952DB1EC4104}" dt="2023-09-08T02:03:49.036" v="0" actId="33475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9/7/2023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9/7/2023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9/7/2023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rmAutofit/>
          </a:bodyPr>
          <a:lstStyle/>
          <a:p>
            <a:r>
              <a:rPr lang="en-US" sz="7200" b="1"/>
              <a:t>TTKI:</a:t>
            </a:r>
            <a:br>
              <a:rPr lang="en-US" sz="7200" b="1"/>
            </a:br>
            <a:r>
              <a:rPr lang="en-US" sz="7200" b="1"/>
              <a:t>EJAAN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000" b="1"/>
              <a:t>INSTITUT TEKNOLOGI BANDUNG</a:t>
            </a:r>
          </a:p>
          <a:p>
            <a:pPr>
              <a:spcBef>
                <a:spcPts val="0"/>
              </a:spcBef>
            </a:pPr>
            <a:r>
              <a:rPr lang="en-US" sz="2000" b="1"/>
              <a:t>2023/2024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1CD618-87E1-CE7A-C1BD-35554A8BB2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568" y="525303"/>
            <a:ext cx="3103121" cy="1498050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HURUF KAPITAL</a:t>
            </a:r>
            <a:endParaRPr lang="en-ID" sz="4800" b="1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6FDE38F-365C-8E94-1609-8936486E3223}"/>
              </a:ext>
            </a:extLst>
          </p:cNvPr>
          <p:cNvGrpSpPr/>
          <p:nvPr/>
        </p:nvGrpSpPr>
        <p:grpSpPr>
          <a:xfrm>
            <a:off x="3618689" y="525303"/>
            <a:ext cx="8135566" cy="496111"/>
            <a:chOff x="3618689" y="525303"/>
            <a:chExt cx="8135566" cy="49611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4D28BEC4-E94E-0DB4-F15C-1C01FB9F6B59}"/>
                </a:ext>
              </a:extLst>
            </p:cNvPr>
            <p:cNvSpPr/>
            <p:nvPr/>
          </p:nvSpPr>
          <p:spPr>
            <a:xfrm>
              <a:off x="3618689" y="525303"/>
              <a:ext cx="496111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1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872F932-2F79-9F76-0149-494BB310C679}"/>
                </a:ext>
              </a:extLst>
            </p:cNvPr>
            <p:cNvSpPr/>
            <p:nvPr/>
          </p:nvSpPr>
          <p:spPr>
            <a:xfrm>
              <a:off x="4192623" y="525303"/>
              <a:ext cx="7561632" cy="496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H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uruf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kapital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dipakai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pada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awal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kalimat</a:t>
              </a:r>
              <a:endParaRPr lang="en-ID" sz="28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606CDF3-AC45-4E25-6E65-9840A80FC08A}"/>
              </a:ext>
            </a:extLst>
          </p:cNvPr>
          <p:cNvGrpSpPr/>
          <p:nvPr/>
        </p:nvGrpSpPr>
        <p:grpSpPr>
          <a:xfrm>
            <a:off x="3618689" y="1089504"/>
            <a:ext cx="8135566" cy="1021400"/>
            <a:chOff x="3618689" y="1186784"/>
            <a:chExt cx="8135566" cy="10214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4DC2150-A699-1C0C-329A-718A861703A0}"/>
                </a:ext>
              </a:extLst>
            </p:cNvPr>
            <p:cNvSpPr/>
            <p:nvPr/>
          </p:nvSpPr>
          <p:spPr>
            <a:xfrm>
              <a:off x="3618689" y="1274328"/>
              <a:ext cx="496111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2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8CF027-64E3-A541-C3F1-823C28F31A07}"/>
                </a:ext>
              </a:extLst>
            </p:cNvPr>
            <p:cNvSpPr/>
            <p:nvPr/>
          </p:nvSpPr>
          <p:spPr>
            <a:xfrm>
              <a:off x="4192623" y="1186784"/>
              <a:ext cx="7561632" cy="1021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Gelar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pangkat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dan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jabatan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yang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disertai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nama</a:t>
              </a:r>
              <a:endParaRPr lang="en-US" sz="28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  <a:p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(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S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ultan Bone,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G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ubernur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DKI Jakarta,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H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aji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Soleh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)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205525A-7662-A89D-8595-F69252BA222E}"/>
              </a:ext>
            </a:extLst>
          </p:cNvPr>
          <p:cNvGrpSpPr/>
          <p:nvPr/>
        </p:nvGrpSpPr>
        <p:grpSpPr>
          <a:xfrm>
            <a:off x="3618689" y="2042802"/>
            <a:ext cx="8135566" cy="943582"/>
            <a:chOff x="3618689" y="2237362"/>
            <a:chExt cx="8135566" cy="94358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CB79EE0-FD7B-7786-CB23-CA1568905565}"/>
                </a:ext>
              </a:extLst>
            </p:cNvPr>
            <p:cNvSpPr/>
            <p:nvPr/>
          </p:nvSpPr>
          <p:spPr>
            <a:xfrm>
              <a:off x="3618689" y="2276267"/>
              <a:ext cx="496111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3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15EFC8-698C-D852-288F-DC9417EBF62C}"/>
                </a:ext>
              </a:extLst>
            </p:cNvPr>
            <p:cNvSpPr/>
            <p:nvPr/>
          </p:nvSpPr>
          <p:spPr>
            <a:xfrm>
              <a:off x="4192623" y="2237362"/>
              <a:ext cx="7561632" cy="9435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Nama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geografi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(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K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ota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B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ogor,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G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unung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S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emeru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)</a:t>
              </a:r>
            </a:p>
            <a:p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(</a:t>
              </a:r>
              <a:r>
                <a:rPr lang="en-ID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kecuali</a:t>
              </a:r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ID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menjadi</a:t>
              </a:r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ID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nama</a:t>
              </a:r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ID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jenis</a:t>
              </a:r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ID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misal</a:t>
              </a:r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ID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kacang</a:t>
              </a:r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ID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b</a:t>
              </a:r>
              <a:r>
                <a:rPr lang="en-ID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ogor</a:t>
              </a:r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)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EF5E5EF-136D-B92B-3973-69548843032A}"/>
              </a:ext>
            </a:extLst>
          </p:cNvPr>
          <p:cNvGrpSpPr/>
          <p:nvPr/>
        </p:nvGrpSpPr>
        <p:grpSpPr>
          <a:xfrm>
            <a:off x="3628417" y="2981502"/>
            <a:ext cx="8125838" cy="564220"/>
            <a:chOff x="3628417" y="3244151"/>
            <a:chExt cx="8125838" cy="56422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EC24B65-DBE2-9EA3-455C-F6241AB86B67}"/>
                </a:ext>
              </a:extLst>
            </p:cNvPr>
            <p:cNvSpPr/>
            <p:nvPr/>
          </p:nvSpPr>
          <p:spPr>
            <a:xfrm>
              <a:off x="3628417" y="3278206"/>
              <a:ext cx="496111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4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572A601-D53B-DD34-7FE1-9B8836D90B08}"/>
                </a:ext>
              </a:extLst>
            </p:cNvPr>
            <p:cNvSpPr/>
            <p:nvPr/>
          </p:nvSpPr>
          <p:spPr>
            <a:xfrm>
              <a:off x="4192623" y="3244151"/>
              <a:ext cx="7561632" cy="564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Ket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.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waktu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(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hari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S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abtu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hari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L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ebaran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bulan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J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uni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)</a:t>
              </a:r>
              <a:endParaRPr lang="en-ID" sz="28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5DBC72E-9E7B-D3D5-4A95-9289B1950174}"/>
              </a:ext>
            </a:extLst>
          </p:cNvPr>
          <p:cNvGrpSpPr/>
          <p:nvPr/>
        </p:nvGrpSpPr>
        <p:grpSpPr>
          <a:xfrm>
            <a:off x="3628417" y="3613796"/>
            <a:ext cx="8125838" cy="496111"/>
            <a:chOff x="3628417" y="3905631"/>
            <a:chExt cx="8125838" cy="496111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7514559-B350-27FB-6C65-3936B82D559A}"/>
                </a:ext>
              </a:extLst>
            </p:cNvPr>
            <p:cNvSpPr/>
            <p:nvPr/>
          </p:nvSpPr>
          <p:spPr>
            <a:xfrm>
              <a:off x="3628417" y="3905631"/>
              <a:ext cx="496111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5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C07A56-4796-6A36-AC5D-F2E1C0EE238C}"/>
                </a:ext>
              </a:extLst>
            </p:cNvPr>
            <p:cNvSpPr/>
            <p:nvPr/>
          </p:nvSpPr>
          <p:spPr>
            <a:xfrm>
              <a:off x="4192623" y="3905631"/>
              <a:ext cx="7561632" cy="496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Budaya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(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suku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J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awa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bahasa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I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ndonesia, batik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S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olo)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49DDC0-B350-1556-813C-AB4DCC9D2991}"/>
              </a:ext>
            </a:extLst>
          </p:cNvPr>
          <p:cNvGrpSpPr/>
          <p:nvPr/>
        </p:nvGrpSpPr>
        <p:grpSpPr>
          <a:xfrm>
            <a:off x="3628417" y="4192583"/>
            <a:ext cx="8125838" cy="496111"/>
            <a:chOff x="3628417" y="4533056"/>
            <a:chExt cx="8125838" cy="496111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9F9F32-2A82-2A37-B651-BEF041299561}"/>
                </a:ext>
              </a:extLst>
            </p:cNvPr>
            <p:cNvSpPr/>
            <p:nvPr/>
          </p:nvSpPr>
          <p:spPr>
            <a:xfrm>
              <a:off x="3628417" y="4533056"/>
              <a:ext cx="496111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6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E045C00-C097-0A94-3581-CBCA7F55F9A6}"/>
                </a:ext>
              </a:extLst>
            </p:cNvPr>
            <p:cNvSpPr/>
            <p:nvPr/>
          </p:nvSpPr>
          <p:spPr>
            <a:xfrm>
              <a:off x="4192623" y="4533056"/>
              <a:ext cx="7561632" cy="496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Sapaan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(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nda,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S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audara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B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apak/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I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bu)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9D456B-38DA-AE24-D3F9-42D137DB93F7}"/>
              </a:ext>
            </a:extLst>
          </p:cNvPr>
          <p:cNvGrpSpPr/>
          <p:nvPr/>
        </p:nvGrpSpPr>
        <p:grpSpPr>
          <a:xfrm>
            <a:off x="3628416" y="4771370"/>
            <a:ext cx="8296105" cy="496111"/>
            <a:chOff x="3628417" y="4771370"/>
            <a:chExt cx="8125838" cy="496111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A9AA875-9A27-F70E-8FBC-3074387A433A}"/>
                </a:ext>
              </a:extLst>
            </p:cNvPr>
            <p:cNvSpPr/>
            <p:nvPr/>
          </p:nvSpPr>
          <p:spPr>
            <a:xfrm>
              <a:off x="3628417" y="4771370"/>
              <a:ext cx="496111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7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E8B7B16-F809-FD04-3654-95A98BCDE385}"/>
                </a:ext>
              </a:extLst>
            </p:cNvPr>
            <p:cNvSpPr/>
            <p:nvPr/>
          </p:nvSpPr>
          <p:spPr>
            <a:xfrm>
              <a:off x="4192623" y="4771370"/>
              <a:ext cx="7561632" cy="496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Nama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Tuhan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(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M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aha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E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sa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M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aha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K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uasa,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M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aha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P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engasih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)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00D1C62-602A-52F5-5847-D393858B7DD3}"/>
              </a:ext>
            </a:extLst>
          </p:cNvPr>
          <p:cNvGrpSpPr/>
          <p:nvPr/>
        </p:nvGrpSpPr>
        <p:grpSpPr>
          <a:xfrm>
            <a:off x="3628417" y="5350157"/>
            <a:ext cx="8125838" cy="496111"/>
            <a:chOff x="3628417" y="4533056"/>
            <a:chExt cx="8125838" cy="496111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419EF28-6199-3BF3-C136-DC665FF2C040}"/>
                </a:ext>
              </a:extLst>
            </p:cNvPr>
            <p:cNvSpPr/>
            <p:nvPr/>
          </p:nvSpPr>
          <p:spPr>
            <a:xfrm>
              <a:off x="3628417" y="4533056"/>
              <a:ext cx="496111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8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3D27CE4-F813-4989-15DC-129EF1D888F0}"/>
                </a:ext>
              </a:extLst>
            </p:cNvPr>
            <p:cNvSpPr/>
            <p:nvPr/>
          </p:nvSpPr>
          <p:spPr>
            <a:xfrm>
              <a:off x="4192623" y="4533056"/>
              <a:ext cx="7561632" cy="496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Negara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(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M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ahkamah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gung,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U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ndang-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U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ndang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D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asar)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5995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1CD618-87E1-CE7A-C1BD-35554A8BB2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568" y="525303"/>
            <a:ext cx="3103121" cy="1498050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HURUF MIRING</a:t>
            </a:r>
            <a:endParaRPr lang="en-ID" sz="4800" b="1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606CDF3-AC45-4E25-6E65-9840A80FC08A}"/>
              </a:ext>
            </a:extLst>
          </p:cNvPr>
          <p:cNvGrpSpPr/>
          <p:nvPr/>
        </p:nvGrpSpPr>
        <p:grpSpPr>
          <a:xfrm>
            <a:off x="3540866" y="1798631"/>
            <a:ext cx="8135566" cy="1021400"/>
            <a:chOff x="3618689" y="1186784"/>
            <a:chExt cx="8135566" cy="10214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4DC2150-A699-1C0C-329A-718A861703A0}"/>
                </a:ext>
              </a:extLst>
            </p:cNvPr>
            <p:cNvSpPr/>
            <p:nvPr/>
          </p:nvSpPr>
          <p:spPr>
            <a:xfrm>
              <a:off x="3618689" y="1274328"/>
              <a:ext cx="496111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1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8CF027-64E3-A541-C3F1-823C28F31A07}"/>
                </a:ext>
              </a:extLst>
            </p:cNvPr>
            <p:cNvSpPr/>
            <p:nvPr/>
          </p:nvSpPr>
          <p:spPr>
            <a:xfrm>
              <a:off x="4192623" y="1186784"/>
              <a:ext cx="7561632" cy="1021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Bahasa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asing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(</a:t>
              </a:r>
              <a:r>
                <a:rPr lang="en-US" sz="2800" b="1" i="1">
                  <a:solidFill>
                    <a:srgbClr val="FF0000"/>
                  </a:solidFill>
                  <a:latin typeface="Arial Narrow" panose="020B0606020202030204" pitchFamily="34" charset="0"/>
                </a:rPr>
                <a:t>timeline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me-</a:t>
              </a:r>
              <a:r>
                <a:rPr lang="en-US" sz="2800" b="1" i="1">
                  <a:solidFill>
                    <a:srgbClr val="FF0000"/>
                  </a:solidFill>
                  <a:latin typeface="Arial Narrow" panose="020B0606020202030204" pitchFamily="34" charset="0"/>
                </a:rPr>
                <a:t>review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i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barudak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)</a:t>
              </a:r>
            </a:p>
            <a:p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(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kecuali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merk,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misal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University of Indonesia, Twitter)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205525A-7662-A89D-8595-F69252BA222E}"/>
              </a:ext>
            </a:extLst>
          </p:cNvPr>
          <p:cNvGrpSpPr/>
          <p:nvPr/>
        </p:nvGrpSpPr>
        <p:grpSpPr>
          <a:xfrm>
            <a:off x="3540866" y="3181141"/>
            <a:ext cx="8135566" cy="943582"/>
            <a:chOff x="3618689" y="2237362"/>
            <a:chExt cx="8135566" cy="94358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CB79EE0-FD7B-7786-CB23-CA1568905565}"/>
                </a:ext>
              </a:extLst>
            </p:cNvPr>
            <p:cNvSpPr/>
            <p:nvPr/>
          </p:nvSpPr>
          <p:spPr>
            <a:xfrm>
              <a:off x="3618689" y="2276267"/>
              <a:ext cx="496111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2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15EFC8-698C-D852-288F-DC9417EBF62C}"/>
                </a:ext>
              </a:extLst>
            </p:cNvPr>
            <p:cNvSpPr/>
            <p:nvPr/>
          </p:nvSpPr>
          <p:spPr>
            <a:xfrm>
              <a:off x="4192623" y="2237362"/>
              <a:ext cx="7561632" cy="9435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Penegasan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/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pengkhususan</a:t>
              </a:r>
              <a:endParaRPr lang="en-US" sz="28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  <a:p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(</a:t>
              </a:r>
              <a:r>
                <a:rPr lang="en-ID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Berikut</a:t>
              </a:r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ID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ini</a:t>
              </a:r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yang </a:t>
              </a:r>
              <a:r>
                <a:rPr lang="en-ID" sz="2800" b="1" i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bukan</a:t>
              </a:r>
              <a:r>
                <a:rPr lang="en-ID" sz="2800" b="1" i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ID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kalimat</a:t>
              </a:r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ID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efektif</a:t>
              </a:r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ID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adalah</a:t>
              </a:r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…)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A4316BA-BA50-959F-DF96-196041BF5229}"/>
              </a:ext>
            </a:extLst>
          </p:cNvPr>
          <p:cNvGrpSpPr/>
          <p:nvPr/>
        </p:nvGrpSpPr>
        <p:grpSpPr>
          <a:xfrm>
            <a:off x="3540866" y="4490692"/>
            <a:ext cx="8135566" cy="943582"/>
            <a:chOff x="3618689" y="2237362"/>
            <a:chExt cx="8135566" cy="943582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25E95F7-99A1-A7A8-2CA2-1A4B85AD1A2E}"/>
                </a:ext>
              </a:extLst>
            </p:cNvPr>
            <p:cNvSpPr/>
            <p:nvPr/>
          </p:nvSpPr>
          <p:spPr>
            <a:xfrm>
              <a:off x="3618689" y="2276267"/>
              <a:ext cx="496111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3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3F8DA10-3B10-A6D4-B2D5-5B9481059D9F}"/>
                </a:ext>
              </a:extLst>
            </p:cNvPr>
            <p:cNvSpPr/>
            <p:nvPr/>
          </p:nvSpPr>
          <p:spPr>
            <a:xfrm>
              <a:off x="4192623" y="2237362"/>
              <a:ext cx="7561632" cy="9435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Judul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buku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majalah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, dan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surat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kabar</a:t>
              </a:r>
              <a:endParaRPr lang="en-US" sz="28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  <a:p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(</a:t>
              </a:r>
              <a:r>
                <a:rPr lang="en-ID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majalah</a:t>
              </a:r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ID" sz="2800" b="1" i="1">
                  <a:solidFill>
                    <a:srgbClr val="FF0000"/>
                  </a:solidFill>
                  <a:latin typeface="Arial Narrow" panose="020B0606020202030204" pitchFamily="34" charset="0"/>
                </a:rPr>
                <a:t>Tempo</a:t>
              </a:r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ID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harian</a:t>
              </a:r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ID" sz="2800" b="1" i="1">
                  <a:solidFill>
                    <a:srgbClr val="FF0000"/>
                  </a:solidFill>
                  <a:latin typeface="Arial Narrow" panose="020B0606020202030204" pitchFamily="34" charset="0"/>
                </a:rPr>
                <a:t>Kompas</a:t>
              </a:r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novel </a:t>
              </a:r>
              <a:r>
                <a:rPr lang="en-ID" sz="2800" b="1" i="1">
                  <a:solidFill>
                    <a:srgbClr val="FF0000"/>
                  </a:solidFill>
                  <a:latin typeface="Arial Narrow" panose="020B0606020202030204" pitchFamily="34" charset="0"/>
                </a:rPr>
                <a:t>Mahabharata</a:t>
              </a:r>
              <a:r>
                <a:rPr lang="en-ID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57575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1CD618-87E1-CE7A-C1BD-35554A8BB2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568" y="525303"/>
            <a:ext cx="3515256" cy="1498050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PENULISAN KATA</a:t>
            </a:r>
            <a:endParaRPr lang="en-ID" sz="4800" b="1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606CDF3-AC45-4E25-6E65-9840A80FC08A}"/>
              </a:ext>
            </a:extLst>
          </p:cNvPr>
          <p:cNvGrpSpPr/>
          <p:nvPr/>
        </p:nvGrpSpPr>
        <p:grpSpPr>
          <a:xfrm>
            <a:off x="4114799" y="1275723"/>
            <a:ext cx="7561633" cy="1021400"/>
            <a:chOff x="3618689" y="1186784"/>
            <a:chExt cx="8135566" cy="10214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4DC2150-A699-1C0C-329A-718A861703A0}"/>
                </a:ext>
              </a:extLst>
            </p:cNvPr>
            <p:cNvSpPr/>
            <p:nvPr/>
          </p:nvSpPr>
          <p:spPr>
            <a:xfrm>
              <a:off x="3618689" y="1274328"/>
              <a:ext cx="496111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1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8CF027-64E3-A541-C3F1-823C28F31A07}"/>
                </a:ext>
              </a:extLst>
            </p:cNvPr>
            <p:cNvSpPr/>
            <p:nvPr/>
          </p:nvSpPr>
          <p:spPr>
            <a:xfrm>
              <a:off x="4192623" y="1186784"/>
              <a:ext cx="7561632" cy="1021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di &amp;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ke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(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dipisah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menunjukkan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tempat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–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di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toko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di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sana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di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antara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ke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rumah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*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ke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mari)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0F4A418-13B6-630C-FE6F-1BDFC73B4EB9}"/>
              </a:ext>
            </a:extLst>
          </p:cNvPr>
          <p:cNvGrpSpPr/>
          <p:nvPr/>
        </p:nvGrpSpPr>
        <p:grpSpPr>
          <a:xfrm>
            <a:off x="4114799" y="2373884"/>
            <a:ext cx="7561633" cy="1021400"/>
            <a:chOff x="3618689" y="1186784"/>
            <a:chExt cx="8135566" cy="10214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8F789EB-CFD8-8664-3BC0-8D8174702F58}"/>
                </a:ext>
              </a:extLst>
            </p:cNvPr>
            <p:cNvSpPr/>
            <p:nvPr/>
          </p:nvSpPr>
          <p:spPr>
            <a:xfrm>
              <a:off x="3618689" y="1274328"/>
              <a:ext cx="496111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2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42AF8F0-DFBB-12F0-FC5E-4ECB6BA6435E}"/>
                </a:ext>
              </a:extLst>
            </p:cNvPr>
            <p:cNvSpPr/>
            <p:nvPr/>
          </p:nvSpPr>
          <p:spPr>
            <a:xfrm>
              <a:off x="4192623" y="1186784"/>
              <a:ext cx="7561632" cy="1021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Bentuk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terikat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(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pasca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panen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non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muslim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non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-Amerika,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antar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kota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anti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karat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*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tata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kota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)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2E4DA0-9F4A-A620-42F3-161C33D61B38}"/>
              </a:ext>
            </a:extLst>
          </p:cNvPr>
          <p:cNvGrpSpPr/>
          <p:nvPr/>
        </p:nvGrpSpPr>
        <p:grpSpPr>
          <a:xfrm>
            <a:off x="4114799" y="3467380"/>
            <a:ext cx="7561633" cy="1021400"/>
            <a:chOff x="3618689" y="1186784"/>
            <a:chExt cx="8135566" cy="10214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A6596A5-1765-A523-90BB-25911D512CC7}"/>
                </a:ext>
              </a:extLst>
            </p:cNvPr>
            <p:cNvSpPr/>
            <p:nvPr/>
          </p:nvSpPr>
          <p:spPr>
            <a:xfrm>
              <a:off x="3618689" y="1274328"/>
              <a:ext cx="496111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3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11FC065-907D-5DD7-8264-2CFD6F4D29C3}"/>
                </a:ext>
              </a:extLst>
            </p:cNvPr>
            <p:cNvSpPr/>
            <p:nvPr/>
          </p:nvSpPr>
          <p:spPr>
            <a:xfrm>
              <a:off x="4192623" y="1186784"/>
              <a:ext cx="7561632" cy="1021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Gabungan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kata 1 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(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kacamata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saputangan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olahraga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dukacita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terima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kasih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kerja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sama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830BE72-8D88-5675-EFAC-A7C73C2B1FC2}"/>
              </a:ext>
            </a:extLst>
          </p:cNvPr>
          <p:cNvGrpSpPr/>
          <p:nvPr/>
        </p:nvGrpSpPr>
        <p:grpSpPr>
          <a:xfrm>
            <a:off x="4114799" y="4560876"/>
            <a:ext cx="7561633" cy="1021400"/>
            <a:chOff x="3618689" y="1186784"/>
            <a:chExt cx="8135566" cy="10214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0B54483-16D3-6DC0-B91F-A0D6D2A61D71}"/>
                </a:ext>
              </a:extLst>
            </p:cNvPr>
            <p:cNvSpPr/>
            <p:nvPr/>
          </p:nvSpPr>
          <p:spPr>
            <a:xfrm>
              <a:off x="3618689" y="1274328"/>
              <a:ext cx="496111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4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B6ECB65-4164-C985-262A-EA1ED7C92129}"/>
                </a:ext>
              </a:extLst>
            </p:cNvPr>
            <p:cNvSpPr/>
            <p:nvPr/>
          </p:nvSpPr>
          <p:spPr>
            <a:xfrm>
              <a:off x="4192623" y="1186784"/>
              <a:ext cx="7561632" cy="1021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Gabungan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kata 2 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(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tanda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tangan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ber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tanda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tangan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tanda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tangan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i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pe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nandatangan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an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1131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1CD618-87E1-CE7A-C1BD-35554A8BB2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568" y="525303"/>
            <a:ext cx="3515256" cy="1498050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ANGKA/</a:t>
            </a:r>
            <a:br>
              <a:rPr lang="en-US" sz="4800" b="1">
                <a:solidFill>
                  <a:srgbClr val="FF0000"/>
                </a:solidFill>
              </a:rPr>
            </a:br>
            <a:r>
              <a:rPr lang="en-US" sz="4800" b="1">
                <a:solidFill>
                  <a:srgbClr val="FF0000"/>
                </a:solidFill>
              </a:rPr>
              <a:t>BILANGAN</a:t>
            </a:r>
            <a:endParaRPr lang="en-ID" sz="4800" b="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1D81ACF-99E8-FDE2-12A1-ACE5C08688F2}"/>
              </a:ext>
            </a:extLst>
          </p:cNvPr>
          <p:cNvGrpSpPr/>
          <p:nvPr/>
        </p:nvGrpSpPr>
        <p:grpSpPr>
          <a:xfrm>
            <a:off x="4114799" y="425745"/>
            <a:ext cx="7561633" cy="747630"/>
            <a:chOff x="4114799" y="1237507"/>
            <a:chExt cx="7561633" cy="74763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4DC2150-A699-1C0C-329A-718A861703A0}"/>
                </a:ext>
              </a:extLst>
            </p:cNvPr>
            <p:cNvSpPr/>
            <p:nvPr/>
          </p:nvSpPr>
          <p:spPr>
            <a:xfrm>
              <a:off x="4114799" y="1363267"/>
              <a:ext cx="461112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1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8CF027-64E3-A541-C3F1-823C28F31A07}"/>
                </a:ext>
              </a:extLst>
            </p:cNvPr>
            <p:cNvSpPr/>
            <p:nvPr/>
          </p:nvSpPr>
          <p:spPr>
            <a:xfrm>
              <a:off x="4648244" y="1237507"/>
              <a:ext cx="7028188" cy="7476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Wajib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huruf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1 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(1–2 kata)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satu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sebelas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dua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puluh</a:t>
              </a:r>
              <a:endParaRPr lang="en-US" sz="2800" b="1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8E75E9E-80BE-1061-FD67-565C92D54D06}"/>
              </a:ext>
            </a:extLst>
          </p:cNvPr>
          <p:cNvGrpSpPr/>
          <p:nvPr/>
        </p:nvGrpSpPr>
        <p:grpSpPr>
          <a:xfrm>
            <a:off x="4114799" y="2199743"/>
            <a:ext cx="7561633" cy="747630"/>
            <a:chOff x="4114799" y="1237507"/>
            <a:chExt cx="7561633" cy="74763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2F8B1AA-5568-E475-6C1B-1E653FE0C170}"/>
                </a:ext>
              </a:extLst>
            </p:cNvPr>
            <p:cNvSpPr/>
            <p:nvPr/>
          </p:nvSpPr>
          <p:spPr>
            <a:xfrm>
              <a:off x="4114799" y="1363267"/>
              <a:ext cx="461112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3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AB653F1-2E44-8357-1D25-08EE20A6151F}"/>
                </a:ext>
              </a:extLst>
            </p:cNvPr>
            <p:cNvSpPr/>
            <p:nvPr/>
          </p:nvSpPr>
          <p:spPr>
            <a:xfrm>
              <a:off x="4648244" y="1237507"/>
              <a:ext cx="7028188" cy="7476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Wajib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angka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1 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(&gt;2 kata)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23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225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1.234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3FC1A1F-0185-83EE-3FDE-E071063ECD5B}"/>
              </a:ext>
            </a:extLst>
          </p:cNvPr>
          <p:cNvGrpSpPr/>
          <p:nvPr/>
        </p:nvGrpSpPr>
        <p:grpSpPr>
          <a:xfrm>
            <a:off x="4109379" y="3034734"/>
            <a:ext cx="7561633" cy="1925157"/>
            <a:chOff x="4114799" y="2732767"/>
            <a:chExt cx="7561633" cy="1925157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2DD41C0-5FDE-445C-0D67-173283AA5262}"/>
                </a:ext>
              </a:extLst>
            </p:cNvPr>
            <p:cNvSpPr/>
            <p:nvPr/>
          </p:nvSpPr>
          <p:spPr>
            <a:xfrm>
              <a:off x="4114799" y="2824125"/>
              <a:ext cx="461112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4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C9F6FC3-44CE-A9CD-BA9C-DED4693AEBE5}"/>
                </a:ext>
              </a:extLst>
            </p:cNvPr>
            <p:cNvSpPr/>
            <p:nvPr/>
          </p:nvSpPr>
          <p:spPr>
            <a:xfrm>
              <a:off x="4648244" y="2732767"/>
              <a:ext cx="7028188" cy="19251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Wajib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angka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2 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(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perincian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)</a:t>
              </a:r>
            </a:p>
            <a:p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Dari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100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responden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78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orang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merespons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positif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12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orang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merespons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negatif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dan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10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orang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memilih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tidak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menjawab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.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C0C8972-E51B-5B0A-F003-53257BA98578}"/>
              </a:ext>
            </a:extLst>
          </p:cNvPr>
          <p:cNvGrpSpPr/>
          <p:nvPr/>
        </p:nvGrpSpPr>
        <p:grpSpPr>
          <a:xfrm>
            <a:off x="4109379" y="1186985"/>
            <a:ext cx="7561633" cy="1012758"/>
            <a:chOff x="4109379" y="1998747"/>
            <a:chExt cx="7561633" cy="1012758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2E68D4F-0AAD-E494-8F36-85A232A64BEF}"/>
                </a:ext>
              </a:extLst>
            </p:cNvPr>
            <p:cNvSpPr/>
            <p:nvPr/>
          </p:nvSpPr>
          <p:spPr>
            <a:xfrm>
              <a:off x="4109379" y="2124507"/>
              <a:ext cx="461112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2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0B7E97C-6FC1-C03D-5A00-DD52D2DF571D}"/>
                </a:ext>
              </a:extLst>
            </p:cNvPr>
            <p:cNvSpPr/>
            <p:nvPr/>
          </p:nvSpPr>
          <p:spPr>
            <a:xfrm>
              <a:off x="4642824" y="1998747"/>
              <a:ext cx="7028188" cy="1012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Wajib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huruf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2 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(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awal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kalimat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) </a:t>
              </a:r>
            </a:p>
            <a:p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Tiga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orang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tersangka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pencurian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berhasil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kabur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.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AD2D571-0F52-97B1-ACA0-CEBB07A95425}"/>
              </a:ext>
            </a:extLst>
          </p:cNvPr>
          <p:cNvGrpSpPr/>
          <p:nvPr/>
        </p:nvGrpSpPr>
        <p:grpSpPr>
          <a:xfrm>
            <a:off x="4109379" y="4912046"/>
            <a:ext cx="7561633" cy="1012758"/>
            <a:chOff x="4109379" y="1998747"/>
            <a:chExt cx="7561633" cy="1012758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6C01825-5DBC-A522-40CD-A6D96806FA31}"/>
                </a:ext>
              </a:extLst>
            </p:cNvPr>
            <p:cNvSpPr/>
            <p:nvPr/>
          </p:nvSpPr>
          <p:spPr>
            <a:xfrm>
              <a:off x="4109379" y="2124507"/>
              <a:ext cx="461112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5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9ACEA8E-11CD-3BEC-80CD-9341860EC317}"/>
                </a:ext>
              </a:extLst>
            </p:cNvPr>
            <p:cNvSpPr/>
            <p:nvPr/>
          </p:nvSpPr>
          <p:spPr>
            <a:xfrm>
              <a:off x="4642824" y="1998747"/>
              <a:ext cx="7028188" cy="1012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Tingkatan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endParaRPr lang="en-US" sz="28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  <a:p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abad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XX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abad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ke-20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abad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kedua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puluh</a:t>
              </a:r>
              <a:endParaRPr lang="en-US" sz="2800" b="1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68584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5C6036A-5F51-48B0-8A98-C657435EB88F}"/>
              </a:ext>
            </a:extLst>
          </p:cNvPr>
          <p:cNvSpPr/>
          <p:nvPr/>
        </p:nvSpPr>
        <p:spPr>
          <a:xfrm>
            <a:off x="1828800" y="228600"/>
            <a:ext cx="1371600" cy="1219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1 </a:t>
            </a:r>
          </a:p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1C778E3-BC18-4F5A-96D2-0E50FF272977}"/>
              </a:ext>
            </a:extLst>
          </p:cNvPr>
          <p:cNvSpPr/>
          <p:nvPr/>
        </p:nvSpPr>
        <p:spPr>
          <a:xfrm>
            <a:off x="1828800" y="1524000"/>
            <a:ext cx="1371600" cy="1219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2</a:t>
            </a:r>
          </a:p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,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40452E-3397-4DC5-9D58-A78EB4E01494}"/>
              </a:ext>
            </a:extLst>
          </p:cNvPr>
          <p:cNvSpPr/>
          <p:nvPr/>
        </p:nvSpPr>
        <p:spPr>
          <a:xfrm>
            <a:off x="1828800" y="2819400"/>
            <a:ext cx="1371600" cy="1219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3</a:t>
            </a:r>
          </a:p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;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4C569F-F4F8-40A4-BDB0-DDDE83AF55A1}"/>
              </a:ext>
            </a:extLst>
          </p:cNvPr>
          <p:cNvSpPr/>
          <p:nvPr/>
        </p:nvSpPr>
        <p:spPr>
          <a:xfrm>
            <a:off x="1828800" y="4114800"/>
            <a:ext cx="1371600" cy="1219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4</a:t>
            </a:r>
          </a:p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: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9965D5-F50E-47ED-8DC2-4E184F1CCA8C}"/>
              </a:ext>
            </a:extLst>
          </p:cNvPr>
          <p:cNvSpPr/>
          <p:nvPr/>
        </p:nvSpPr>
        <p:spPr>
          <a:xfrm>
            <a:off x="1828800" y="5410200"/>
            <a:ext cx="1371600" cy="1219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5</a:t>
            </a:r>
          </a:p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!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C6F1081-E159-4F3A-877A-2DC73CC44104}"/>
              </a:ext>
            </a:extLst>
          </p:cNvPr>
          <p:cNvSpPr/>
          <p:nvPr/>
        </p:nvSpPr>
        <p:spPr>
          <a:xfrm>
            <a:off x="3581400" y="228600"/>
            <a:ext cx="1371600" cy="1219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6</a:t>
            </a:r>
          </a:p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?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6CB128-A006-49D1-A71D-38C62547152A}"/>
              </a:ext>
            </a:extLst>
          </p:cNvPr>
          <p:cNvSpPr/>
          <p:nvPr/>
        </p:nvSpPr>
        <p:spPr>
          <a:xfrm>
            <a:off x="3581400" y="1524000"/>
            <a:ext cx="1371600" cy="1219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7</a:t>
            </a:r>
          </a:p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-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E8E825D-607D-4E5B-9E11-CA48C86FC3FF}"/>
              </a:ext>
            </a:extLst>
          </p:cNvPr>
          <p:cNvSpPr/>
          <p:nvPr/>
        </p:nvSpPr>
        <p:spPr>
          <a:xfrm>
            <a:off x="3581400" y="2819400"/>
            <a:ext cx="1371600" cy="1219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8</a:t>
            </a:r>
          </a:p>
          <a:p>
            <a:pPr algn="ctr">
              <a:defRPr/>
            </a:pPr>
            <a:r>
              <a:rPr lang="en-US" sz="24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—</a:t>
            </a:r>
            <a:endParaRPr lang="en-US" sz="2400">
              <a:solidFill>
                <a:schemeClr val="tx1"/>
              </a:solidFill>
              <a:latin typeface="Impact" pitchFamily="34" charset="0"/>
              <a:cs typeface="Courier New" pitchFamily="49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E1B7005-9F71-4B9A-A69C-DA9F96C3E1B1}"/>
              </a:ext>
            </a:extLst>
          </p:cNvPr>
          <p:cNvSpPr/>
          <p:nvPr/>
        </p:nvSpPr>
        <p:spPr>
          <a:xfrm>
            <a:off x="3581400" y="4114800"/>
            <a:ext cx="1371600" cy="1219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9</a:t>
            </a:r>
          </a:p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“   “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1AD303-C4C7-4A7B-B94C-54F957BB5567}"/>
              </a:ext>
            </a:extLst>
          </p:cNvPr>
          <p:cNvSpPr/>
          <p:nvPr/>
        </p:nvSpPr>
        <p:spPr>
          <a:xfrm>
            <a:off x="3581400" y="5410200"/>
            <a:ext cx="1371600" cy="1219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10</a:t>
            </a:r>
          </a:p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‘   ‘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A57CC3F-1CCE-4EE3-AD22-C3B55A973A7E}"/>
              </a:ext>
            </a:extLst>
          </p:cNvPr>
          <p:cNvSpPr/>
          <p:nvPr/>
        </p:nvSpPr>
        <p:spPr>
          <a:xfrm>
            <a:off x="5257800" y="1524000"/>
            <a:ext cx="1371600" cy="1219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12</a:t>
            </a:r>
          </a:p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[   ]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AE5D7D1-87B1-4862-B5A3-8E0503615994}"/>
              </a:ext>
            </a:extLst>
          </p:cNvPr>
          <p:cNvSpPr/>
          <p:nvPr/>
        </p:nvSpPr>
        <p:spPr>
          <a:xfrm>
            <a:off x="5257800" y="228600"/>
            <a:ext cx="1371600" cy="1219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11</a:t>
            </a:r>
          </a:p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(   )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BA2FF4D-BD2F-4D5B-9159-E7A9324D3830}"/>
              </a:ext>
            </a:extLst>
          </p:cNvPr>
          <p:cNvSpPr/>
          <p:nvPr/>
        </p:nvSpPr>
        <p:spPr>
          <a:xfrm>
            <a:off x="5257800" y="2819400"/>
            <a:ext cx="1371600" cy="1219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13</a:t>
            </a:r>
          </a:p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…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6613668-5A17-42F0-96FF-F95A859B93A0}"/>
              </a:ext>
            </a:extLst>
          </p:cNvPr>
          <p:cNvSpPr/>
          <p:nvPr/>
        </p:nvSpPr>
        <p:spPr>
          <a:xfrm>
            <a:off x="5257800" y="4114800"/>
            <a:ext cx="1371600" cy="1219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14</a:t>
            </a:r>
          </a:p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/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DA7463D-C157-4D41-A685-40B2E7291108}"/>
              </a:ext>
            </a:extLst>
          </p:cNvPr>
          <p:cNvSpPr/>
          <p:nvPr/>
        </p:nvSpPr>
        <p:spPr>
          <a:xfrm>
            <a:off x="5257800" y="5410200"/>
            <a:ext cx="1371600" cy="1219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15</a:t>
            </a:r>
          </a:p>
          <a:p>
            <a:pPr algn="ctr">
              <a:defRPr/>
            </a:pPr>
            <a:r>
              <a:rPr lang="en-US" sz="2400">
                <a:solidFill>
                  <a:schemeClr val="tx1"/>
                </a:solidFill>
                <a:latin typeface="Impact" pitchFamily="34" charset="0"/>
                <a:cs typeface="Courier New" pitchFamily="49" charset="0"/>
              </a:rPr>
              <a:t>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67A514-A19E-4AF6-BF54-BEF271049DC8}"/>
              </a:ext>
            </a:extLst>
          </p:cNvPr>
          <p:cNvSpPr txBox="1"/>
          <p:nvPr/>
        </p:nvSpPr>
        <p:spPr>
          <a:xfrm>
            <a:off x="6934200" y="741364"/>
            <a:ext cx="3276600" cy="535463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Tanda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titik</a:t>
            </a: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Tanda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koma</a:t>
            </a: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Tanda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titik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koma</a:t>
            </a: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Tanda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titik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dua</a:t>
            </a: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Tanda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seru</a:t>
            </a: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Tanda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tanya</a:t>
            </a: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Tanda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hubung</a:t>
            </a: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Tanda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pisah</a:t>
            </a: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Tanda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petik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ganda</a:t>
            </a: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Tanda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petik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tunggal</a:t>
            </a: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Tanda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kurung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Tanda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kurung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siku</a:t>
            </a: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Tanda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elipsis</a:t>
            </a: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Tanda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garis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miring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Tanda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apostrof</a:t>
            </a: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1CD618-87E1-CE7A-C1BD-35554A8BB2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568" y="525303"/>
            <a:ext cx="3515256" cy="1498050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TANDA TITIK</a:t>
            </a:r>
            <a:endParaRPr lang="en-ID" sz="4800" b="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0C8972-E51B-5B0A-F003-53257BA98578}"/>
              </a:ext>
            </a:extLst>
          </p:cNvPr>
          <p:cNvGrpSpPr/>
          <p:nvPr/>
        </p:nvGrpSpPr>
        <p:grpSpPr>
          <a:xfrm>
            <a:off x="4109379" y="1364258"/>
            <a:ext cx="7561633" cy="1012758"/>
            <a:chOff x="4109379" y="1998747"/>
            <a:chExt cx="7561633" cy="1012758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2E68D4F-0AAD-E494-8F36-85A232A64BEF}"/>
                </a:ext>
              </a:extLst>
            </p:cNvPr>
            <p:cNvSpPr/>
            <p:nvPr/>
          </p:nvSpPr>
          <p:spPr>
            <a:xfrm>
              <a:off x="4109379" y="2124507"/>
              <a:ext cx="461112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1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0B7E97C-6FC1-C03D-5A00-DD52D2DF571D}"/>
                </a:ext>
              </a:extLst>
            </p:cNvPr>
            <p:cNvSpPr/>
            <p:nvPr/>
          </p:nvSpPr>
          <p:spPr>
            <a:xfrm>
              <a:off x="4642824" y="1998747"/>
              <a:ext cx="7028188" cy="1012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Mengakhiri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kalimat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</a:p>
            <a:p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Hari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ini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siswa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MMC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belajar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Bahasa Indonesia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.</a:t>
              </a: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102B3192-5E5A-4BEE-69DE-52846EAA43F6}"/>
              </a:ext>
            </a:extLst>
          </p:cNvPr>
          <p:cNvSpPr/>
          <p:nvPr/>
        </p:nvSpPr>
        <p:spPr>
          <a:xfrm>
            <a:off x="4109379" y="2576103"/>
            <a:ext cx="461112" cy="49611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Arial Narrow" panose="020B0606020202030204" pitchFamily="34" charset="0"/>
              </a:rPr>
              <a:t>2</a:t>
            </a:r>
            <a:endParaRPr lang="en-ID" sz="2400" b="1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7908F3-C771-EA5A-64D5-9FF99B2032B7}"/>
              </a:ext>
            </a:extLst>
          </p:cNvPr>
          <p:cNvSpPr/>
          <p:nvPr/>
        </p:nvSpPr>
        <p:spPr>
          <a:xfrm>
            <a:off x="4642824" y="2377016"/>
            <a:ext cx="7028188" cy="11943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Mengakhiri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kalimat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langsung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/dialog</a:t>
            </a:r>
          </a:p>
          <a:p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Bu Puspita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berkata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, “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Setelah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ini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Latihan,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ya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.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”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65CE1E8-1503-F0C3-52D6-7E10488CF67F}"/>
              </a:ext>
            </a:extLst>
          </p:cNvPr>
          <p:cNvSpPr/>
          <p:nvPr/>
        </p:nvSpPr>
        <p:spPr>
          <a:xfrm>
            <a:off x="4109379" y="3697087"/>
            <a:ext cx="461112" cy="49611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Arial Narrow" panose="020B0606020202030204" pitchFamily="34" charset="0"/>
              </a:rPr>
              <a:t>3</a:t>
            </a:r>
            <a:endParaRPr lang="en-ID" sz="2400" b="1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035BB-32C9-0C6E-8E9E-FF7738B954A2}"/>
              </a:ext>
            </a:extLst>
          </p:cNvPr>
          <p:cNvSpPr/>
          <p:nvPr/>
        </p:nvSpPr>
        <p:spPr>
          <a:xfrm>
            <a:off x="4642824" y="3571327"/>
            <a:ext cx="7028188" cy="19430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Penomoran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subbab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bagan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perincian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</a:p>
          <a:p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III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.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Pemakaian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Tanda Baca</a:t>
            </a:r>
          </a:p>
          <a:p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    A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.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Tanda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Titik</a:t>
            </a:r>
            <a:endParaRPr lang="en-US" sz="2800" b="1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    B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.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Tanda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Koma</a:t>
            </a:r>
            <a:endParaRPr lang="en-US" sz="2800" b="1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8269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1CD618-87E1-CE7A-C1BD-35554A8BB2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568" y="525303"/>
            <a:ext cx="3515256" cy="1498050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TANDA TITIK</a:t>
            </a:r>
            <a:endParaRPr lang="en-ID" sz="4800" b="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9CFB340-D52E-055D-E7AD-A4BA409A8370}"/>
              </a:ext>
            </a:extLst>
          </p:cNvPr>
          <p:cNvGrpSpPr/>
          <p:nvPr/>
        </p:nvGrpSpPr>
        <p:grpSpPr>
          <a:xfrm>
            <a:off x="4109379" y="1857136"/>
            <a:ext cx="7561633" cy="1455233"/>
            <a:chOff x="4109379" y="4507028"/>
            <a:chExt cx="7561633" cy="1455233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CAD81BE-2F4E-A1C5-6D1E-BE68BC99F75C}"/>
                </a:ext>
              </a:extLst>
            </p:cNvPr>
            <p:cNvSpPr/>
            <p:nvPr/>
          </p:nvSpPr>
          <p:spPr>
            <a:xfrm>
              <a:off x="4109379" y="4632789"/>
              <a:ext cx="461112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4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210C8CC-B65F-F049-5B3D-4AF8A9ABDD9A}"/>
                </a:ext>
              </a:extLst>
            </p:cNvPr>
            <p:cNvSpPr/>
            <p:nvPr/>
          </p:nvSpPr>
          <p:spPr>
            <a:xfrm>
              <a:off x="4642824" y="4507028"/>
              <a:ext cx="7028188" cy="14552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Penanda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Waktu 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</a:p>
            <a:p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pukul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13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.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30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.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25   (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pukul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13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lewat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30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menit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25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detik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)</a:t>
              </a:r>
            </a:p>
            <a:p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1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.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30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.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20	     (1 jam, 30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menit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20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detik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)</a:t>
              </a:r>
              <a:endParaRPr lang="en-US" sz="2800" b="1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87E8FBE-576D-03D9-064D-E5E2B6BE9AAF}"/>
              </a:ext>
            </a:extLst>
          </p:cNvPr>
          <p:cNvGrpSpPr/>
          <p:nvPr/>
        </p:nvGrpSpPr>
        <p:grpSpPr>
          <a:xfrm>
            <a:off x="4114799" y="3351672"/>
            <a:ext cx="7561633" cy="1648145"/>
            <a:chOff x="4114799" y="263239"/>
            <a:chExt cx="7561633" cy="164814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EC4C033-D818-BC4B-2305-3E4617732A09}"/>
                </a:ext>
              </a:extLst>
            </p:cNvPr>
            <p:cNvSpPr/>
            <p:nvPr/>
          </p:nvSpPr>
          <p:spPr>
            <a:xfrm>
              <a:off x="4114799" y="482306"/>
              <a:ext cx="461112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5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1E292AA-D7C7-4A14-78B6-25168F7B9C66}"/>
                </a:ext>
              </a:extLst>
            </p:cNvPr>
            <p:cNvSpPr/>
            <p:nvPr/>
          </p:nvSpPr>
          <p:spPr>
            <a:xfrm>
              <a:off x="4648244" y="263239"/>
              <a:ext cx="7028188" cy="16481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Daftar Pustaka 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</a:p>
            <a:p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Nuari, Puspita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.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2013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.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i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Reduplikasi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.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Jakarta: Gramedia Pustaka Utama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75880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1CD618-87E1-CE7A-C1BD-35554A8BB2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568" y="525303"/>
            <a:ext cx="3515256" cy="1498050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TANDA KOMA</a:t>
            </a:r>
            <a:endParaRPr lang="en-ID" sz="4800" b="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0C8972-E51B-5B0A-F003-53257BA98578}"/>
              </a:ext>
            </a:extLst>
          </p:cNvPr>
          <p:cNvGrpSpPr/>
          <p:nvPr/>
        </p:nvGrpSpPr>
        <p:grpSpPr>
          <a:xfrm>
            <a:off x="4109379" y="1047020"/>
            <a:ext cx="7561633" cy="1012758"/>
            <a:chOff x="4109379" y="1998747"/>
            <a:chExt cx="7561633" cy="1012758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2E68D4F-0AAD-E494-8F36-85A232A64BEF}"/>
                </a:ext>
              </a:extLst>
            </p:cNvPr>
            <p:cNvSpPr/>
            <p:nvPr/>
          </p:nvSpPr>
          <p:spPr>
            <a:xfrm>
              <a:off x="4109379" y="2124507"/>
              <a:ext cx="461112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1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0B7E97C-6FC1-C03D-5A00-DD52D2DF571D}"/>
                </a:ext>
              </a:extLst>
            </p:cNvPr>
            <p:cNvSpPr/>
            <p:nvPr/>
          </p:nvSpPr>
          <p:spPr>
            <a:xfrm>
              <a:off x="4642824" y="1998747"/>
              <a:ext cx="7028188" cy="10127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Perincian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lebih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dari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dua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hal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</a:p>
            <a:p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Ibu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membeli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mangga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,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pisang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,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dan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jambu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23C844D-EF74-DCDB-4118-C9CF1AB299F7}"/>
              </a:ext>
            </a:extLst>
          </p:cNvPr>
          <p:cNvGrpSpPr/>
          <p:nvPr/>
        </p:nvGrpSpPr>
        <p:grpSpPr>
          <a:xfrm>
            <a:off x="4109379" y="2133104"/>
            <a:ext cx="7561633" cy="3235590"/>
            <a:chOff x="4109379" y="2273069"/>
            <a:chExt cx="7561633" cy="323559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02B3192-5E5A-4BEE-69DE-52846EAA43F6}"/>
                </a:ext>
              </a:extLst>
            </p:cNvPr>
            <p:cNvSpPr/>
            <p:nvPr/>
          </p:nvSpPr>
          <p:spPr>
            <a:xfrm>
              <a:off x="4109379" y="2398830"/>
              <a:ext cx="461112" cy="496111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 Narrow" panose="020B0606020202030204" pitchFamily="34" charset="0"/>
                </a:rPr>
                <a:t>2</a:t>
              </a:r>
              <a:endParaRPr lang="en-ID" sz="2400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C7908F3-C771-EA5A-64D5-9FF99B2032B7}"/>
                </a:ext>
              </a:extLst>
            </p:cNvPr>
            <p:cNvSpPr/>
            <p:nvPr/>
          </p:nvSpPr>
          <p:spPr>
            <a:xfrm>
              <a:off x="4642824" y="2273069"/>
              <a:ext cx="7028188" cy="16177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Kalimat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majemuk</a:t>
              </a:r>
              <a:r>
                <a:rPr lang="en-US" sz="2800" b="1">
                  <a:solidFill>
                    <a:srgbClr val="00B05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00B050"/>
                  </a:solidFill>
                  <a:latin typeface="Arial Narrow" panose="020B0606020202030204" pitchFamily="34" charset="0"/>
                </a:rPr>
                <a:t>pertentangan</a:t>
              </a:r>
              <a:endParaRPr lang="en-US" sz="2800" b="1">
                <a:solidFill>
                  <a:srgbClr val="00B050"/>
                </a:solidFill>
                <a:latin typeface="Arial Narrow" panose="020B0606020202030204" pitchFamily="34" charset="0"/>
              </a:endParaRPr>
            </a:p>
            <a:p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Ayah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ke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kantor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sedangkan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ibu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ke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pasar.</a:t>
              </a:r>
            </a:p>
            <a:p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Ia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lelah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,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tetapi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tetap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berusaha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hingga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akhir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.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614F8DF-E6D8-6E0B-CD34-1A5FFEAD6968}"/>
                </a:ext>
              </a:extLst>
            </p:cNvPr>
            <p:cNvSpPr/>
            <p:nvPr/>
          </p:nvSpPr>
          <p:spPr>
            <a:xfrm>
              <a:off x="4642824" y="3890864"/>
              <a:ext cx="7028188" cy="16177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err="1">
                  <a:solidFill>
                    <a:schemeClr val="tx1"/>
                  </a:solidFill>
                  <a:highlight>
                    <a:srgbClr val="FFFF00"/>
                  </a:highlight>
                  <a:latin typeface="Arial Narrow" panose="020B0606020202030204" pitchFamily="34" charset="0"/>
                </a:rPr>
                <a:t>Catatan</a:t>
              </a:r>
              <a:r>
                <a:rPr lang="en-US" sz="2800" b="1">
                  <a:solidFill>
                    <a:schemeClr val="tx1"/>
                  </a:solidFill>
                  <a:highlight>
                    <a:srgbClr val="FFFF00"/>
                  </a:highlight>
                  <a:latin typeface="Arial Narrow" panose="020B0606020202030204" pitchFamily="34" charset="0"/>
                </a:rPr>
                <a:t>:</a:t>
              </a:r>
            </a:p>
            <a:p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Kata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hubung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karena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sehingga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, dan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bahwa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</a:p>
            <a:p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tidak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perlu</a:t>
              </a:r>
              <a:r>
                <a:rPr lang="en-US" sz="2800" b="1">
                  <a:solidFill>
                    <a:srgbClr val="FF0000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didahului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chemeClr val="tx1"/>
                  </a:solidFill>
                  <a:latin typeface="Arial Narrow" panose="020B0606020202030204" pitchFamily="34" charset="0"/>
                </a:rPr>
                <a:t>tanda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2800" b="1" err="1">
                  <a:solidFill>
                    <a:srgbClr val="FF0000"/>
                  </a:solidFill>
                  <a:latin typeface="Arial Narrow" panose="020B0606020202030204" pitchFamily="34" charset="0"/>
                </a:rPr>
                <a:t>koma</a:t>
              </a:r>
              <a:r>
                <a:rPr lang="en-US" sz="2800" b="1">
                  <a:solidFill>
                    <a:schemeClr val="tx1"/>
                  </a:solidFill>
                  <a:latin typeface="Arial Narrow" panose="020B0606020202030204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8928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1CD618-87E1-CE7A-C1BD-35554A8BB2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568" y="525303"/>
            <a:ext cx="3515256" cy="1498050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TANDA KOMA</a:t>
            </a:r>
            <a:endParaRPr lang="en-ID" sz="4800" b="1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2E68D4F-0AAD-E494-8F36-85A232A64BEF}"/>
              </a:ext>
            </a:extLst>
          </p:cNvPr>
          <p:cNvSpPr/>
          <p:nvPr/>
        </p:nvSpPr>
        <p:spPr>
          <a:xfrm>
            <a:off x="4109379" y="1172780"/>
            <a:ext cx="461112" cy="49611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Arial Narrow" panose="020B0606020202030204" pitchFamily="34" charset="0"/>
              </a:rPr>
              <a:t>3</a:t>
            </a:r>
            <a:endParaRPr lang="en-ID" sz="2400" b="1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B7E97C-6FC1-C03D-5A00-DD52D2DF571D}"/>
              </a:ext>
            </a:extLst>
          </p:cNvPr>
          <p:cNvSpPr/>
          <p:nvPr/>
        </p:nvSpPr>
        <p:spPr>
          <a:xfrm>
            <a:off x="4642824" y="1047020"/>
            <a:ext cx="7028188" cy="1428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Pembatas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anak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dan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induk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kalimat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</a:p>
          <a:p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Karena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hari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hujan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,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Melisa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tidak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hadir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  <a:p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Jika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hari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cerah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Melisa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pasti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hadir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02B3192-5E5A-4BEE-69DE-52846EAA43F6}"/>
              </a:ext>
            </a:extLst>
          </p:cNvPr>
          <p:cNvSpPr/>
          <p:nvPr/>
        </p:nvSpPr>
        <p:spPr>
          <a:xfrm>
            <a:off x="4109379" y="2779370"/>
            <a:ext cx="461112" cy="49611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Arial Narrow" panose="020B0606020202030204" pitchFamily="34" charset="0"/>
              </a:rPr>
              <a:t>4</a:t>
            </a:r>
            <a:endParaRPr lang="en-ID" sz="2400" b="1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7908F3-C771-EA5A-64D5-9FF99B2032B7}"/>
              </a:ext>
            </a:extLst>
          </p:cNvPr>
          <p:cNvSpPr/>
          <p:nvPr/>
        </p:nvSpPr>
        <p:spPr>
          <a:xfrm>
            <a:off x="4642824" y="3413263"/>
            <a:ext cx="7028188" cy="16177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Pembatas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konjungsi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antarkalimat</a:t>
            </a:r>
            <a:endParaRPr lang="en-US" sz="2800" b="1">
              <a:solidFill>
                <a:srgbClr val="00B050"/>
              </a:solidFill>
              <a:latin typeface="Arial Narrow" panose="020B0606020202030204" pitchFamily="34" charset="0"/>
            </a:endParaRPr>
          </a:p>
          <a:p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Jadi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...</a:t>
            </a:r>
          </a:p>
          <a:p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Oleh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karena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itu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...</a:t>
            </a:r>
          </a:p>
          <a:p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Kemudian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...</a:t>
            </a:r>
          </a:p>
          <a:p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Lalu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...</a:t>
            </a:r>
          </a:p>
          <a:p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Namun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...</a:t>
            </a:r>
          </a:p>
          <a:p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Akan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tetapi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8474137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1CD618-87E1-CE7A-C1BD-35554A8BB2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568" y="525303"/>
            <a:ext cx="3515256" cy="1498050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TANDA KOMA</a:t>
            </a:r>
            <a:endParaRPr lang="en-ID" sz="4800" b="1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2E68D4F-0AAD-E494-8F36-85A232A64BEF}"/>
              </a:ext>
            </a:extLst>
          </p:cNvPr>
          <p:cNvSpPr/>
          <p:nvPr/>
        </p:nvSpPr>
        <p:spPr>
          <a:xfrm>
            <a:off x="4109379" y="1172780"/>
            <a:ext cx="461112" cy="49611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Arial Narrow" panose="020B0606020202030204" pitchFamily="34" charset="0"/>
              </a:rPr>
              <a:t>5</a:t>
            </a:r>
            <a:endParaRPr lang="en-ID" sz="2400" b="1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B7E97C-6FC1-C03D-5A00-DD52D2DF571D}"/>
              </a:ext>
            </a:extLst>
          </p:cNvPr>
          <p:cNvSpPr/>
          <p:nvPr/>
        </p:nvSpPr>
        <p:spPr>
          <a:xfrm>
            <a:off x="4642824" y="1047020"/>
            <a:ext cx="7028188" cy="1428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Pembatas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interjeksi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</a:p>
          <a:p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Aduh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,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buku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kuliahku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tertinggal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!</a:t>
            </a:r>
          </a:p>
          <a:p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Hati-hati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ya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nanti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jatuh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02B3192-5E5A-4BEE-69DE-52846EAA43F6}"/>
              </a:ext>
            </a:extLst>
          </p:cNvPr>
          <p:cNvSpPr/>
          <p:nvPr/>
        </p:nvSpPr>
        <p:spPr>
          <a:xfrm>
            <a:off x="4109379" y="2779370"/>
            <a:ext cx="461112" cy="49611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Arial Narrow" panose="020B0606020202030204" pitchFamily="34" charset="0"/>
              </a:rPr>
              <a:t>6</a:t>
            </a:r>
            <a:endParaRPr lang="en-ID" sz="2400" b="1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7908F3-C771-EA5A-64D5-9FF99B2032B7}"/>
              </a:ext>
            </a:extLst>
          </p:cNvPr>
          <p:cNvSpPr/>
          <p:nvPr/>
        </p:nvSpPr>
        <p:spPr>
          <a:xfrm>
            <a:off x="4642824" y="2600231"/>
            <a:ext cx="7028188" cy="16177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Pembatas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keterangan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tambahan</a:t>
            </a:r>
            <a:endParaRPr lang="en-US" sz="2800" b="1">
              <a:solidFill>
                <a:srgbClr val="00B050"/>
              </a:solidFill>
              <a:latin typeface="Arial Narrow" panose="020B0606020202030204" pitchFamily="34" charset="0"/>
            </a:endParaRPr>
          </a:p>
          <a:p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Mahasiswa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kelas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SAPPK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,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baik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laki-laki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maupun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perempuan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,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mengikuti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kuliah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TTKI.</a:t>
            </a:r>
          </a:p>
        </p:txBody>
      </p:sp>
    </p:spTree>
    <p:extLst>
      <p:ext uri="{BB962C8B-B14F-4D97-AF65-F5344CB8AC3E}">
        <p14:creationId xmlns:p14="http://schemas.microsoft.com/office/powerpoint/2010/main" val="16600820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1CD618-87E1-CE7A-C1BD-35554A8BB2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568" y="525303"/>
            <a:ext cx="3515256" cy="1498050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TANDA TITIK DUA</a:t>
            </a:r>
            <a:endParaRPr lang="en-ID" sz="4800" b="1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B7E97C-6FC1-C03D-5A00-DD52D2DF571D}"/>
              </a:ext>
            </a:extLst>
          </p:cNvPr>
          <p:cNvSpPr/>
          <p:nvPr/>
        </p:nvSpPr>
        <p:spPr>
          <a:xfrm>
            <a:off x="4488780" y="523924"/>
            <a:ext cx="7028188" cy="19982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Pengganti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kata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hubung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untuk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perincian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Hanya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ada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FF0000"/>
                </a:solidFill>
                <a:latin typeface="Arial Narrow" panose="020B0606020202030204" pitchFamily="34" charset="0"/>
              </a:rPr>
              <a:t>dua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pilihan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: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merdeka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atau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mati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  <a:p>
            <a:pPr marL="457200" indent="-457200">
              <a:buFontTx/>
              <a:buChar char="-"/>
            </a:pP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Program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Studi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Indonesia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memiliki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FF0000"/>
                </a:solidFill>
                <a:latin typeface="Arial Narrow" panose="020B0606020202030204" pitchFamily="34" charset="0"/>
              </a:rPr>
              <a:t>tiga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peminatan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: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linguistik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, sastra, dan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filologi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. </a:t>
            </a:r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BC9BA82F-B7B6-52B3-FD34-A76F8CB0249C}"/>
              </a:ext>
            </a:extLst>
          </p:cNvPr>
          <p:cNvSpPr txBox="1">
            <a:spLocks/>
          </p:cNvSpPr>
          <p:nvPr/>
        </p:nvSpPr>
        <p:spPr>
          <a:xfrm>
            <a:off x="515568" y="2619127"/>
            <a:ext cx="3515256" cy="14980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FF0000"/>
                </a:solidFill>
              </a:rPr>
              <a:t>PETIK </a:t>
            </a:r>
          </a:p>
          <a:p>
            <a:r>
              <a:rPr lang="en-US" sz="4800" b="1">
                <a:solidFill>
                  <a:srgbClr val="FF0000"/>
                </a:solidFill>
              </a:rPr>
              <a:t>GANDA</a:t>
            </a:r>
            <a:endParaRPr lang="en-ID" sz="4800" b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BC39EE-4445-BBFE-50C2-CD5690997737}"/>
              </a:ext>
            </a:extLst>
          </p:cNvPr>
          <p:cNvSpPr/>
          <p:nvPr/>
        </p:nvSpPr>
        <p:spPr>
          <a:xfrm>
            <a:off x="4488780" y="2768466"/>
            <a:ext cx="7028188" cy="1012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Judul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artikel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puisi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cerpen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lagu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karya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pendek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</a:p>
          <a:p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Bacalah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artikel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“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Pemanasan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Global 2022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"</a:t>
            </a:r>
          </a:p>
        </p:txBody>
      </p:sp>
      <p:sp>
        <p:nvSpPr>
          <p:cNvPr id="26" name="Title 4">
            <a:extLst>
              <a:ext uri="{FF2B5EF4-FFF2-40B4-BE49-F238E27FC236}">
                <a16:creationId xmlns:a16="http://schemas.microsoft.com/office/drawing/2014/main" id="{BC5EA459-2CF0-B9B3-4D1B-7F648B48815C}"/>
              </a:ext>
            </a:extLst>
          </p:cNvPr>
          <p:cNvSpPr txBox="1">
            <a:spLocks/>
          </p:cNvSpPr>
          <p:nvPr/>
        </p:nvSpPr>
        <p:spPr>
          <a:xfrm>
            <a:off x="515568" y="4423046"/>
            <a:ext cx="3515256" cy="14980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FF0000"/>
                </a:solidFill>
              </a:rPr>
              <a:t>PETIK </a:t>
            </a:r>
          </a:p>
          <a:p>
            <a:r>
              <a:rPr lang="en-US" sz="4800" b="1">
                <a:solidFill>
                  <a:srgbClr val="FF0000"/>
                </a:solidFill>
              </a:rPr>
              <a:t>TUNGGAL</a:t>
            </a:r>
            <a:endParaRPr lang="en-ID" sz="4800" b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391500-BC41-D4FC-6668-0C2983002ED1}"/>
              </a:ext>
            </a:extLst>
          </p:cNvPr>
          <p:cNvSpPr/>
          <p:nvPr/>
        </p:nvSpPr>
        <p:spPr>
          <a:xfrm>
            <a:off x="4488780" y="4423046"/>
            <a:ext cx="7028188" cy="1012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Terjemahan</a:t>
            </a:r>
            <a:endParaRPr lang="en-US" sz="2800" b="1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Kata </a:t>
            </a:r>
            <a:r>
              <a:rPr lang="en-US" sz="2800" b="1" i="1">
                <a:solidFill>
                  <a:schemeClr val="tx1"/>
                </a:solidFill>
                <a:latin typeface="Arial Narrow" panose="020B0606020202030204" pitchFamily="34" charset="0"/>
              </a:rPr>
              <a:t>timeline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diterjemahkan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menjadi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‘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linimasa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’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  <a:endParaRPr lang="en-US" sz="2800" b="1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3144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1CD618-87E1-CE7A-C1BD-35554A8BB2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568" y="525303"/>
            <a:ext cx="3515256" cy="1498050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TANDA TITIK DUA</a:t>
            </a:r>
            <a:endParaRPr lang="en-ID" sz="4800" b="1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B7E97C-6FC1-C03D-5A00-DD52D2DF571D}"/>
              </a:ext>
            </a:extLst>
          </p:cNvPr>
          <p:cNvSpPr/>
          <p:nvPr/>
        </p:nvSpPr>
        <p:spPr>
          <a:xfrm>
            <a:off x="4488780" y="523924"/>
            <a:ext cx="7028188" cy="19982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Pengganti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kata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hubung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untuk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perincian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Hanya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ada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FF0000"/>
                </a:solidFill>
                <a:latin typeface="Arial Narrow" panose="020B0606020202030204" pitchFamily="34" charset="0"/>
              </a:rPr>
              <a:t>dua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pilihan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: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merdeka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atau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mati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  <a:p>
            <a:pPr marL="457200" indent="-457200">
              <a:buFontTx/>
              <a:buChar char="-"/>
            </a:pP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Program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Studi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Indonesia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memiliki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FF0000"/>
                </a:solidFill>
                <a:latin typeface="Arial Narrow" panose="020B0606020202030204" pitchFamily="34" charset="0"/>
              </a:rPr>
              <a:t>tiga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peminatan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: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linguistik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, sastra, dan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filologi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. </a:t>
            </a:r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BC9BA82F-B7B6-52B3-FD34-A76F8CB0249C}"/>
              </a:ext>
            </a:extLst>
          </p:cNvPr>
          <p:cNvSpPr txBox="1">
            <a:spLocks/>
          </p:cNvSpPr>
          <p:nvPr/>
        </p:nvSpPr>
        <p:spPr>
          <a:xfrm>
            <a:off x="515568" y="2619127"/>
            <a:ext cx="3515256" cy="14980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FF0000"/>
                </a:solidFill>
              </a:rPr>
              <a:t>PETIK </a:t>
            </a:r>
          </a:p>
          <a:p>
            <a:r>
              <a:rPr lang="en-US" sz="4800" b="1">
                <a:solidFill>
                  <a:srgbClr val="FF0000"/>
                </a:solidFill>
              </a:rPr>
              <a:t>GANDA</a:t>
            </a:r>
            <a:endParaRPr lang="en-ID" sz="4800" b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BC39EE-4445-BBFE-50C2-CD5690997737}"/>
              </a:ext>
            </a:extLst>
          </p:cNvPr>
          <p:cNvSpPr/>
          <p:nvPr/>
        </p:nvSpPr>
        <p:spPr>
          <a:xfrm>
            <a:off x="4488780" y="2768466"/>
            <a:ext cx="7028188" cy="1012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Judul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artikel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puisi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cerpen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lagu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,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karya</a:t>
            </a:r>
            <a:r>
              <a:rPr lang="en-US" sz="2800" b="1">
                <a:solidFill>
                  <a:srgbClr val="00B050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pendek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</a:p>
          <a:p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Bacalah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artikel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“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Pemanasan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Global 2022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"</a:t>
            </a:r>
          </a:p>
        </p:txBody>
      </p:sp>
      <p:sp>
        <p:nvSpPr>
          <p:cNvPr id="26" name="Title 4">
            <a:extLst>
              <a:ext uri="{FF2B5EF4-FFF2-40B4-BE49-F238E27FC236}">
                <a16:creationId xmlns:a16="http://schemas.microsoft.com/office/drawing/2014/main" id="{BC5EA459-2CF0-B9B3-4D1B-7F648B48815C}"/>
              </a:ext>
            </a:extLst>
          </p:cNvPr>
          <p:cNvSpPr txBox="1">
            <a:spLocks/>
          </p:cNvSpPr>
          <p:nvPr/>
        </p:nvSpPr>
        <p:spPr>
          <a:xfrm>
            <a:off x="515568" y="4423046"/>
            <a:ext cx="3515256" cy="14980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FF0000"/>
                </a:solidFill>
              </a:rPr>
              <a:t>PETIK </a:t>
            </a:r>
          </a:p>
          <a:p>
            <a:r>
              <a:rPr lang="en-US" sz="4800" b="1">
                <a:solidFill>
                  <a:srgbClr val="FF0000"/>
                </a:solidFill>
              </a:rPr>
              <a:t>TUNGGAL</a:t>
            </a:r>
            <a:endParaRPr lang="en-ID" sz="4800" b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391500-BC41-D4FC-6668-0C2983002ED1}"/>
              </a:ext>
            </a:extLst>
          </p:cNvPr>
          <p:cNvSpPr/>
          <p:nvPr/>
        </p:nvSpPr>
        <p:spPr>
          <a:xfrm>
            <a:off x="4488780" y="4423046"/>
            <a:ext cx="7028188" cy="1012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err="1">
                <a:solidFill>
                  <a:srgbClr val="00B050"/>
                </a:solidFill>
                <a:latin typeface="Arial Narrow" panose="020B0606020202030204" pitchFamily="34" charset="0"/>
              </a:rPr>
              <a:t>Terjemahan</a:t>
            </a:r>
            <a:endParaRPr lang="en-US" sz="2800" b="1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Kata </a:t>
            </a:r>
            <a:r>
              <a:rPr lang="en-US" sz="2800" b="1" i="1">
                <a:solidFill>
                  <a:schemeClr val="tx1"/>
                </a:solidFill>
                <a:latin typeface="Arial Narrow" panose="020B0606020202030204" pitchFamily="34" charset="0"/>
              </a:rPr>
              <a:t>timeline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diterjemahkan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menjadi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‘</a:t>
            </a:r>
            <a:r>
              <a:rPr lang="en-US" sz="2800" b="1" err="1">
                <a:solidFill>
                  <a:schemeClr val="tx1"/>
                </a:solidFill>
                <a:latin typeface="Arial Narrow" panose="020B0606020202030204" pitchFamily="34" charset="0"/>
              </a:rPr>
              <a:t>linimasa</a:t>
            </a:r>
            <a:r>
              <a:rPr lang="en-US" sz="2800" b="1">
                <a:solidFill>
                  <a:srgbClr val="FF0000"/>
                </a:solidFill>
                <a:latin typeface="Arial Narrow" panose="020B0606020202030204" pitchFamily="34" charset="0"/>
              </a:rPr>
              <a:t>’</a:t>
            </a:r>
            <a:r>
              <a:rPr lang="en-US" sz="2800" b="1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  <a:endParaRPr lang="en-US" sz="2800" b="1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1875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3CD65D-61A5-43C9-A837-6EC73C7DA8AB}">
  <ds:schemaRefs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377351-63A1-4C2E-8C9A-66CDD70F16AC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{9F9AC50A-9758-427D-8ABE-78760CFB7D88}tf11437505_win32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RetrospectVTI</vt:lpstr>
      <vt:lpstr>TTKI: EJAAN</vt:lpstr>
      <vt:lpstr>HURUF KAPITAL</vt:lpstr>
      <vt:lpstr>HURUF MIRING</vt:lpstr>
      <vt:lpstr>PENULISAN KATA</vt:lpstr>
      <vt:lpstr>ANGKA/ BILANGAN</vt:lpstr>
      <vt:lpstr>PowerPoint Presentation</vt:lpstr>
      <vt:lpstr>TANDA TITIK</vt:lpstr>
      <vt:lpstr>TANDA TITIK</vt:lpstr>
      <vt:lpstr>TANDA KOMA</vt:lpstr>
      <vt:lpstr>TANDA KOMA</vt:lpstr>
      <vt:lpstr>TANDA KOMA</vt:lpstr>
      <vt:lpstr>TANDA TITIK DUA</vt:lpstr>
      <vt:lpstr>TANDA TITIK DUA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Bahasa Indonesia</dc:title>
  <dc:creator>Mitra Mandiri Course</dc:creator>
  <cp:revision>1</cp:revision>
  <cp:lastPrinted>2022-11-04T14:30:42Z</cp:lastPrinted>
  <dcterms:created xsi:type="dcterms:W3CDTF">2022-06-03T12:46:58Z</dcterms:created>
  <dcterms:modified xsi:type="dcterms:W3CDTF">2023-09-08T02:04:34Z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38b525e5-f3da-4501-8f1e-526b6769fc56_Enabled">
    <vt:lpwstr>true</vt:lpwstr>
  </property>
  <property fmtid="{D5CDD505-2E9C-101B-9397-08002B2CF9AE}" pid="4" name="MSIP_Label_38b525e5-f3da-4501-8f1e-526b6769fc56_SetDate">
    <vt:lpwstr>2023-09-08T02:03:49Z</vt:lpwstr>
  </property>
  <property fmtid="{D5CDD505-2E9C-101B-9397-08002B2CF9AE}" pid="5" name="MSIP_Label_38b525e5-f3da-4501-8f1e-526b6769fc56_Method">
    <vt:lpwstr>Standard</vt:lpwstr>
  </property>
  <property fmtid="{D5CDD505-2E9C-101B-9397-08002B2CF9AE}" pid="6" name="MSIP_Label_38b525e5-f3da-4501-8f1e-526b6769fc56_Name">
    <vt:lpwstr>defa4170-0d19-0005-0004-bc88714345d2</vt:lpwstr>
  </property>
  <property fmtid="{D5CDD505-2E9C-101B-9397-08002B2CF9AE}" pid="7" name="MSIP_Label_38b525e5-f3da-4501-8f1e-526b6769fc56_SiteId">
    <vt:lpwstr>db6e1183-4c65-405c-82ce-7cd53fa6e9dc</vt:lpwstr>
  </property>
  <property fmtid="{D5CDD505-2E9C-101B-9397-08002B2CF9AE}" pid="8" name="MSIP_Label_38b525e5-f3da-4501-8f1e-526b6769fc56_ActionId">
    <vt:lpwstr>eab08216-aef5-46f4-ab61-ae1c8c4c1c67</vt:lpwstr>
  </property>
  <property fmtid="{D5CDD505-2E9C-101B-9397-08002B2CF9AE}" pid="9" name="MSIP_Label_38b525e5-f3da-4501-8f1e-526b6769fc56_ContentBits">
    <vt:lpwstr>0</vt:lpwstr>
  </property>
</Properties>
</file>